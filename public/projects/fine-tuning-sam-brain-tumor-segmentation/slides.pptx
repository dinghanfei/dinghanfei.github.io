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64" r:id="rId2"/>
    <p:sldId id="257" r:id="rId3"/>
    <p:sldId id="259" r:id="rId4"/>
    <p:sldId id="260" r:id="rId5"/>
    <p:sldId id="265" r:id="rId6"/>
    <p:sldId id="267" r:id="rId7"/>
    <p:sldId id="261" r:id="rId8"/>
    <p:sldId id="268" r:id="rId9"/>
    <p:sldId id="262" r:id="rId10"/>
    <p:sldId id="256" r:id="rId11"/>
    <p:sldId id="263" r:id="rId12"/>
    <p:sldId id="269" r:id="rId13"/>
    <p:sldId id="270" r:id="rId14"/>
    <p:sldId id="271" r:id="rId15"/>
    <p:sldId id="277" r:id="rId16"/>
  </p:sldIdLst>
  <p:sldSz cx="12192000" cy="6858000"/>
  <p:notesSz cx="6858000" cy="9144000"/>
  <p:embeddedFontLst>
    <p:embeddedFont>
      <p:font typeface="等线" panose="02010600030101010101" pitchFamily="2" charset="-122"/>
      <p:regular r:id="rId18"/>
      <p:bold r:id="rId19"/>
    </p:embeddedFont>
    <p:embeddedFont>
      <p:font typeface="等线 Light" panose="02010600030101010101" pitchFamily="2" charset="-122"/>
      <p:regular r:id="rId20"/>
    </p:embeddedFont>
    <p:embeddedFont>
      <p:font typeface="Cambria Math" panose="02040503050406030204" pitchFamily="18" charset="0"/>
      <p:regular r:id="rId21"/>
    </p:embeddedFont>
    <p:embeddedFont>
      <p:font typeface="Cascadia Code" panose="020B0609020000020004" pitchFamily="49" charset="0"/>
      <p:regular r:id="rId22"/>
      <p:bold r:id="rId23"/>
      <p:italic r:id="rId24"/>
      <p:boldItalic r:id="rId2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6B6B"/>
    <a:srgbClr val="FFFFFF"/>
    <a:srgbClr val="CFC0E6"/>
    <a:srgbClr val="B9A2DA"/>
    <a:srgbClr val="D59FEB"/>
    <a:srgbClr val="EF95D7"/>
    <a:srgbClr val="ED87D2"/>
    <a:srgbClr val="C780E4"/>
    <a:srgbClr val="CCE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C6D46-FA30-49CE-9321-0252DD229D7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0E822-14DB-44AE-A302-D9E57C5479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70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532FA-C31A-6BC1-CECB-0BEA916AA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3EB0B9-EF77-320D-2A2D-3FEFF187B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A9B46C-3A95-CF83-1F56-349C2EF5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2C83C7-3A94-F37E-E246-F92A0CFB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F92721-969B-4F78-2DAA-715971C2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43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FCD02-AAF5-216F-3ED8-30C19961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6C8A7A-BF64-F7D3-B663-3FE106234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E88D7B-6A84-95EC-4FD5-E836D171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32DB5E-3B54-302E-A5CB-C5A20CCCA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67B9E-DF39-D518-6054-A62C4D133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2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F6E99-4449-3F57-07C8-0D265274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E3D66E-4F34-4CDE-1774-DC4A018EB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0E35A7-BC87-D9BA-BDAF-917F572C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5404CD-E75B-7409-ED23-B55A8B86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D44E7D-7584-D686-AD89-CE9ECCE6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43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361EB-1473-AAC1-06FB-18C99778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B60F80-49F6-A99B-4BFB-C5F830FE0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37776F-E5E2-FCB9-696E-270B2E079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CB5949-2AE5-D5D9-D5A3-FBE2E273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65614-4A3B-5EB1-A6E7-92C31FC6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F03396-01AD-0563-C395-106B49FB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978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CA8BA-CB38-40BF-A99C-B01F92CC4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3990EC-9EF3-D139-D196-712798BD8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B30109-C7B4-6F2D-6D89-AB0338AE9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A802ED-135A-026E-53C4-CCF620EF7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AA4BAA-4879-D5C2-FBA8-E71D65E65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8619CF-6535-94D8-7937-21397825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8A1902-BABB-EC23-1E94-53470ECA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09D7FA-6716-4C6D-B492-632613CC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38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43B4E-F66D-0C63-8A5C-2ACA102D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2F08FB-818A-79E0-4E9B-567BAABC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2D4C2E-08AB-CE17-F928-F3597607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D1CD5F-4B4E-9B0B-C9D5-21F3F159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88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A095F8-BFF5-E8DA-BF1E-F7662D9C5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63EFEC-A8E5-1283-2EC3-5DC86B36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547FFF-B65E-AABA-FF97-0D21E777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27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2A931-AF4A-BA1F-2841-2CAABD97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E91CF-0557-9423-95AA-5170F60E9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3E1AB-060B-7694-4F10-0FB75A578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1C1300-88F3-D844-F6B3-9724A2EC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14FB3F-856E-C806-6025-58D9602E8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2BA79B-6111-A663-B1C2-834DB80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91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DA080-E9A0-8EB7-3614-FCE602C6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A7D98F-40B3-AB68-E5A3-891564A8E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980875-0764-0081-6872-8613B86BD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F776E1-95AD-3F8E-A699-0B489612A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783B6A-B141-951D-3C96-F468F295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17BE-5357-7C64-581F-A556FD81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9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7DAC1-3817-78BB-C285-DFC93C88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266BD9-292B-8BF3-5B79-1A8A4452F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30756D-3D7F-8F45-EB0B-5C064ABE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AFFE9-6A22-0AF8-B484-697FF077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777587-9E0E-0868-47E4-B1E1E2F8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53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FBF7FF-ACFF-1E08-9F82-3A90ABD27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BFDABF-0076-4866-0F27-2432FE5B8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7C1CD6-95BA-DF85-9F1F-458B37E7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ED4196-CBB6-F30B-EED0-A988E837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53E418-A4DA-500F-1D77-D2FD7709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04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848DD6-90BE-A84C-5034-7AD6370C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A0A1F9-0962-CDFD-9C91-CAABCBB9C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5D2014-4E1D-DD5E-C278-7A6AD1315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932F1-00B3-4710-890D-CFB61C688B9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04478-64A4-F3B6-5885-BB9D1722B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257318-6683-4EB5-5EF6-DAEDD075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A7E1F-0811-4D8C-8FA2-785C66A68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41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GIF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1.png"/><Relationship Id="rId10" Type="http://schemas.openxmlformats.org/officeDocument/2006/relationships/image" Target="NULL"/><Relationship Id="rId4" Type="http://schemas.openxmlformats.org/officeDocument/2006/relationships/image" Target="../media/image30.png"/><Relationship Id="rId9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5655" y="974090"/>
            <a:ext cx="10600055" cy="1726565"/>
          </a:xfrm>
        </p:spPr>
        <p:txBody>
          <a:bodyPr/>
          <a:lstStyle/>
          <a:p>
            <a:pPr algn="ctr"/>
            <a:r>
              <a:rPr lang="en-US" altLang="zh-CN" sz="3600">
                <a:latin typeface="Cascadia Code" panose="020B0609020000020004" charset="0"/>
                <a:cs typeface="Cascadia Code" panose="020B0609020000020004" charset="0"/>
              </a:rPr>
              <a:t>Fine-Tuning SAM For </a:t>
            </a:r>
            <a:br>
              <a:rPr lang="en-US" altLang="zh-CN" sz="3600">
                <a:latin typeface="Cascadia Code" panose="020B0609020000020004" charset="0"/>
                <a:cs typeface="Cascadia Code" panose="020B0609020000020004" charset="0"/>
              </a:rPr>
            </a:br>
            <a:r>
              <a:rPr lang="en-US" altLang="zh-CN" sz="3600">
                <a:latin typeface="Cascadia Code" panose="020B0609020000020004" charset="0"/>
                <a:cs typeface="Cascadia Code" panose="020B0609020000020004" charset="0"/>
              </a:rPr>
              <a:t>Brain Tumor Segmentation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72915" y="3747770"/>
            <a:ext cx="5409565" cy="2482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fontAlgn="ctr" latinLnBrk="0"/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Cascadia Code" panose="020B0609020000020004" charset="0"/>
                <a:sym typeface="+mn-ea"/>
              </a:rPr>
              <a:t>丁翰飞</a:t>
            </a:r>
            <a:r>
              <a:rPr lang="en-US" altLang="zh-CN" sz="24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	2025233140</a:t>
            </a:r>
          </a:p>
          <a:p>
            <a:pPr algn="l" fontAlgn="ctr" latinLnBrk="0"/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Cascadia Code" panose="020B0609020000020004" charset="0"/>
                <a:sym typeface="+mn-ea"/>
              </a:rPr>
              <a:t>黄彦翔</a:t>
            </a:r>
            <a:r>
              <a:rPr lang="en-US" altLang="zh-CN" sz="24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	2025234328</a:t>
            </a:r>
          </a:p>
          <a:p>
            <a:pPr algn="l" fontAlgn="ctr" latinLnBrk="0"/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Cascadia Code" panose="020B0609020000020004" charset="0"/>
              </a:rPr>
              <a:t>陈植</a:t>
            </a:r>
            <a:r>
              <a:rPr lang="en-US" altLang="zh-CN" sz="2400" dirty="0">
                <a:latin typeface="Cascadia Code" panose="020B0609020000020004" charset="0"/>
                <a:ea typeface="+mj-ea"/>
                <a:cs typeface="Cascadia Code" panose="020B0609020000020004" charset="0"/>
              </a:rPr>
              <a:t>		2025234259</a:t>
            </a:r>
          </a:p>
          <a:p>
            <a:pPr algn="l" fontAlgn="ctr" latinLnBrk="0"/>
            <a:r>
              <a:rPr lang="en-US" altLang="zh-CN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72055"/>
            <a:ext cx="1742440" cy="14446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5600" y="26955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>
                <a:latin typeface="Cascadia Code" panose="020B0609020000020004" charset="0"/>
                <a:ea typeface="+mj-ea"/>
                <a:cs typeface="Cascadia Code" panose="020B0609020000020004" charset="0"/>
              </a:rPr>
              <a:t>1. Project Overview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8480" y="865505"/>
            <a:ext cx="1129919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en-US" altLang="zh-CN" sz="1600" b="0" i="0">
                <a:latin typeface="Cascadia Code" panose="020B0609020000020004" charset="0"/>
                <a:ea typeface="+mj-ea"/>
                <a:cs typeface="Cascadia Code" panose="020B0609020000020004" charset="0"/>
              </a:rPr>
              <a:t>BraTS brain tumor segmentation entails </a:t>
            </a:r>
            <a:r>
              <a:rPr lang="en-US" altLang="zh-CN" sz="1600" i="0">
                <a:latin typeface="Cascadia Code" panose="020B0609020000020004" charset="0"/>
                <a:ea typeface="+mj-ea"/>
                <a:cs typeface="Cascadia Code" panose="020B0609020000020004" charset="0"/>
              </a:rPr>
              <a:t>multi-modal fusion</a:t>
            </a:r>
            <a:r>
              <a:rPr lang="en-US" altLang="zh-CN" sz="1600" b="0" i="0">
                <a:latin typeface="Cascadia Code" panose="020B0609020000020004" charset="0"/>
                <a:ea typeface="+mj-ea"/>
                <a:cs typeface="Cascadia Code" panose="020B0609020000020004" charset="0"/>
              </a:rPr>
              <a:t> and </a:t>
            </a:r>
            <a:r>
              <a:rPr lang="en-US" altLang="zh-CN" sz="1600" i="0">
                <a:latin typeface="Cascadia Code" panose="020B0609020000020004" charset="0"/>
                <a:ea typeface="+mj-ea"/>
                <a:cs typeface="Cascadia Code" panose="020B0609020000020004" charset="0"/>
              </a:rPr>
              <a:t>hierarchical segmentation of three nested regions (WT/TC/ET)</a:t>
            </a:r>
            <a:r>
              <a:rPr lang="en-US" altLang="zh-CN" sz="1600" b="0" i="0">
                <a:latin typeface="Cascadia Code" panose="020B0609020000020004" charset="0"/>
                <a:ea typeface="+mj-ea"/>
                <a:cs typeface="Cascadia Code" panose="020B0609020000020004" charset="0"/>
              </a:rPr>
              <a:t>, which can more thoroughly validate the fine-tuning potential and robustness of SAM.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2443480"/>
            <a:ext cx="1506855" cy="1471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155" y="2443480"/>
            <a:ext cx="1511935" cy="1470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0840" y="2449830"/>
            <a:ext cx="1497330" cy="1463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245" y="2480310"/>
            <a:ext cx="1743075" cy="14370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070" y="2458720"/>
            <a:ext cx="1758315" cy="14585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9135" y="2458720"/>
            <a:ext cx="1764665" cy="14566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55" y="4551045"/>
            <a:ext cx="1555115" cy="15551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7235" y="4551045"/>
            <a:ext cx="1544955" cy="15551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5555" y="4551045"/>
            <a:ext cx="1555115" cy="1555115"/>
          </a:xfrm>
          <a:prstGeom prst="rect">
            <a:avLst/>
          </a:prstGeom>
        </p:spPr>
      </p:pic>
      <p:pic>
        <p:nvPicPr>
          <p:cNvPr id="14" name="图片 13" descr="BraTS20_Training_120_animati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2100" y="4489450"/>
            <a:ext cx="6764020" cy="175514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991100" y="2121535"/>
            <a:ext cx="9531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ascadia Code" panose="020B0609020000020004" charset="0"/>
                <a:ea typeface="+mj-ea"/>
                <a:cs typeface="Cascadia Code" panose="020B0609020000020004" charset="0"/>
              </a:rPr>
              <a:t>GTmask</a:t>
            </a:r>
            <a:endParaRPr lang="en-US" altLang="zh-CN" sz="1600" dirty="0">
              <a:latin typeface="Cascadia Code" panose="020B0609020000020004" charset="0"/>
              <a:ea typeface="+mj-ea"/>
              <a:cs typeface="Cascadia Code" panose="020B06090200000200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43225" y="2122170"/>
            <a:ext cx="5486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seg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74955" y="2134235"/>
            <a:ext cx="16351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origin image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0803255" y="2106295"/>
            <a:ext cx="9531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ascadia Code" panose="020B0609020000020004" charset="0"/>
                <a:ea typeface="+mj-ea"/>
                <a:cs typeface="Cascadia Code" panose="020B0609020000020004" charset="0"/>
              </a:rPr>
              <a:t>GTmask</a:t>
            </a:r>
            <a:endParaRPr lang="en-US" altLang="zh-CN" sz="1600" dirty="0">
              <a:latin typeface="Cascadia Code" panose="020B0609020000020004" charset="0"/>
              <a:ea typeface="+mj-ea"/>
              <a:cs typeface="Cascadia Code" panose="020B06090200000200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088120" y="2106930"/>
            <a:ext cx="5486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seg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13525" y="2118995"/>
            <a:ext cx="16351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origin image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117975" y="4208780"/>
            <a:ext cx="9531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ascadia Code" panose="020B0609020000020004" charset="0"/>
                <a:ea typeface="+mj-ea"/>
                <a:cs typeface="Cascadia Code" panose="020B0609020000020004" charset="0"/>
              </a:rPr>
              <a:t>GTmask</a:t>
            </a:r>
            <a:endParaRPr lang="en-US" altLang="zh-CN" sz="1600" dirty="0">
              <a:latin typeface="Cascadia Code" panose="020B0609020000020004" charset="0"/>
              <a:ea typeface="+mj-ea"/>
              <a:cs typeface="Cascadia Code" panose="020B06090200000200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505710" y="4196715"/>
            <a:ext cx="5486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seg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82880" y="4208780"/>
            <a:ext cx="16351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origin image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944235" y="4213860"/>
            <a:ext cx="7061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T1ce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780020" y="4213860"/>
            <a:ext cx="4686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T2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9268460" y="4213860"/>
            <a:ext cx="793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FLAIR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0220325" y="4196715"/>
            <a:ext cx="21183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Segmentation(GT)</a:t>
            </a:r>
            <a:endParaRPr lang="zh-CN" altLang="en-US" sz="1600">
              <a:latin typeface="Cascadia Code" panose="020B0609020000020004" charset="0"/>
              <a:ea typeface="+mj-ea"/>
              <a:cs typeface="Cascadia Code" panose="020B06090200000200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368D59D-90E9-B833-3DCB-5BEE56D783A3}"/>
              </a:ext>
            </a:extLst>
          </p:cNvPr>
          <p:cNvGrpSpPr/>
          <p:nvPr/>
        </p:nvGrpSpPr>
        <p:grpSpPr>
          <a:xfrm>
            <a:off x="432213" y="198415"/>
            <a:ext cx="11208740" cy="6459636"/>
            <a:chOff x="432213" y="198415"/>
            <a:chExt cx="11208740" cy="6459636"/>
          </a:xfrm>
        </p:grpSpPr>
        <p:sp>
          <p:nvSpPr>
            <p:cNvPr id="2" name="圆角矩形 3">
              <a:extLst>
                <a:ext uri="{FF2B5EF4-FFF2-40B4-BE49-F238E27FC236}">
                  <a16:creationId xmlns:a16="http://schemas.microsoft.com/office/drawing/2014/main" id="{2C98762E-BE92-42D9-8566-4D9458AF17E7}"/>
                </a:ext>
              </a:extLst>
            </p:cNvPr>
            <p:cNvSpPr/>
            <p:nvPr/>
          </p:nvSpPr>
          <p:spPr>
            <a:xfrm>
              <a:off x="1031745" y="635617"/>
              <a:ext cx="4411980" cy="316611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lstStyle/>
            <a:p>
              <a:pPr algn="ctr"/>
              <a:endParaRPr lang="zh-CN" altLang="en-US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68C1AA7-989A-252A-32A3-DF9C8602EB6B}"/>
                </a:ext>
              </a:extLst>
            </p:cNvPr>
            <p:cNvSpPr txBox="1"/>
            <p:nvPr/>
          </p:nvSpPr>
          <p:spPr>
            <a:xfrm>
              <a:off x="1678022" y="198415"/>
              <a:ext cx="3119425" cy="3616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D</a:t>
              </a:r>
              <a:r>
                <a:rPr lang="en-US" altLang="zh-CN" sz="2000" b="1" i="0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ata </a:t>
              </a:r>
              <a:r>
                <a:rPr lang="en-US" altLang="zh-CN" sz="20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P</a:t>
              </a:r>
              <a:r>
                <a:rPr lang="en-US" altLang="zh-CN" sz="2000" b="1" i="0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reprocessing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105E3A1-719F-B9DA-B22A-DDB6EDFB1735}"/>
                </a:ext>
              </a:extLst>
            </p:cNvPr>
            <p:cNvSpPr txBox="1"/>
            <p:nvPr/>
          </p:nvSpPr>
          <p:spPr>
            <a:xfrm>
              <a:off x="1192723" y="784972"/>
              <a:ext cx="2373630" cy="31686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Image </a:t>
              </a:r>
            </a:p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Construction</a:t>
              </a: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A12655E-8752-98F9-031E-16148C28EDFA}"/>
                </a:ext>
              </a:extLst>
            </p:cNvPr>
            <p:cNvGrpSpPr/>
            <p:nvPr/>
          </p:nvGrpSpPr>
          <p:grpSpPr>
            <a:xfrm>
              <a:off x="432213" y="1528726"/>
              <a:ext cx="2360930" cy="2157730"/>
              <a:chOff x="12253" y="3010"/>
              <a:chExt cx="3810" cy="3810"/>
            </a:xfrm>
          </p:grpSpPr>
          <p:pic>
            <p:nvPicPr>
              <p:cNvPr id="83" name="图片 82" descr="3个点">
                <a:extLst>
                  <a:ext uri="{FF2B5EF4-FFF2-40B4-BE49-F238E27FC236}">
                    <a16:creationId xmlns:a16="http://schemas.microsoft.com/office/drawing/2014/main" id="{84F10D3A-7630-EEAC-F711-59FDACDFBF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253" y="3010"/>
                <a:ext cx="3810" cy="3810"/>
              </a:xfrm>
              <a:prstGeom prst="rect">
                <a:avLst/>
              </a:prstGeom>
            </p:spPr>
          </p:pic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D7F67792-A10C-4E53-706A-1ED2925563DC}"/>
                  </a:ext>
                </a:extLst>
              </p:cNvPr>
              <p:cNvSpPr txBox="1"/>
              <p:nvPr/>
            </p:nvSpPr>
            <p:spPr>
              <a:xfrm>
                <a:off x="13554" y="4659"/>
                <a:ext cx="1289" cy="522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</a:rPr>
                  <a:t>FLAIR</a:t>
                </a: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6AA499F-A485-CB8B-433E-79710DC10D92}"/>
                  </a:ext>
                </a:extLst>
              </p:cNvPr>
              <p:cNvSpPr txBox="1"/>
              <p:nvPr/>
            </p:nvSpPr>
            <p:spPr>
              <a:xfrm>
                <a:off x="13640" y="3310"/>
                <a:ext cx="1134" cy="5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</a:rPr>
                  <a:t>T1ce</a:t>
                </a: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6FDB143-06B8-21BA-AF93-5933D0DC02C6}"/>
                  </a:ext>
                </a:extLst>
              </p:cNvPr>
              <p:cNvSpPr txBox="1"/>
              <p:nvPr/>
            </p:nvSpPr>
            <p:spPr>
              <a:xfrm>
                <a:off x="13839" y="5900"/>
                <a:ext cx="841" cy="5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</a:rPr>
                  <a:t>T2</a:t>
                </a:r>
              </a:p>
            </p:txBody>
          </p:sp>
        </p:grp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F23BD75-EB65-4A57-3AA2-A3FFB8262442}"/>
                </a:ext>
              </a:extLst>
            </p:cNvPr>
            <p:cNvSpPr txBox="1"/>
            <p:nvPr/>
          </p:nvSpPr>
          <p:spPr>
            <a:xfrm>
              <a:off x="3237734" y="784972"/>
              <a:ext cx="239014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Mask </a:t>
              </a:r>
            </a:p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Generation</a:t>
              </a: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21B0F6D2-F83D-530A-5726-EE9FAD81412C}"/>
                </a:ext>
              </a:extLst>
            </p:cNvPr>
            <p:cNvGrpSpPr/>
            <p:nvPr/>
          </p:nvGrpSpPr>
          <p:grpSpPr>
            <a:xfrm>
              <a:off x="3539677" y="1479150"/>
              <a:ext cx="2211705" cy="1905000"/>
              <a:chOff x="5998" y="3045"/>
              <a:chExt cx="3483" cy="3000"/>
            </a:xfrm>
          </p:grpSpPr>
          <p:pic>
            <p:nvPicPr>
              <p:cNvPr id="89" name="图片 88" descr="一行三列">
                <a:extLst>
                  <a:ext uri="{FF2B5EF4-FFF2-40B4-BE49-F238E27FC236}">
                    <a16:creationId xmlns:a16="http://schemas.microsoft.com/office/drawing/2014/main" id="{72A6B780-C9BE-B177-856C-004784086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8" y="3045"/>
                <a:ext cx="3000" cy="3000"/>
              </a:xfrm>
              <a:prstGeom prst="rect">
                <a:avLst/>
              </a:prstGeom>
            </p:spPr>
          </p:pic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D2A2010-00D0-E95E-F84B-9D9195C68382}"/>
                  </a:ext>
                </a:extLst>
              </p:cNvPr>
              <p:cNvSpPr txBox="1"/>
              <p:nvPr/>
            </p:nvSpPr>
            <p:spPr>
              <a:xfrm>
                <a:off x="6195" y="3982"/>
                <a:ext cx="103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Cascadia Code" panose="020B0609020000020004" charset="0"/>
                    <a:cs typeface="Cascadia Code" panose="020B0609020000020004" charset="0"/>
                  </a:rPr>
                  <a:t>WT</a:t>
                </a: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F9F2E560-E090-89AD-41F2-F0A6D92DCFBF}"/>
                  </a:ext>
                </a:extLst>
              </p:cNvPr>
              <p:cNvSpPr txBox="1"/>
              <p:nvPr/>
            </p:nvSpPr>
            <p:spPr>
              <a:xfrm>
                <a:off x="7170" y="3982"/>
                <a:ext cx="80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Cascadia Code" panose="020B0609020000020004" charset="0"/>
                    <a:cs typeface="Cascadia Code" panose="020B0609020000020004" charset="0"/>
                  </a:rPr>
                  <a:t>TC</a:t>
                </a: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4342F37-4C61-C038-EBE6-A077B6C98946}"/>
                  </a:ext>
                </a:extLst>
              </p:cNvPr>
              <p:cNvSpPr txBox="1"/>
              <p:nvPr/>
            </p:nvSpPr>
            <p:spPr>
              <a:xfrm>
                <a:off x="8093" y="3982"/>
                <a:ext cx="138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Cascadia Code" panose="020B0609020000020004" charset="0"/>
                    <a:cs typeface="Cascadia Code" panose="020B0609020000020004" charset="0"/>
                  </a:rPr>
                  <a:t>ET</a:t>
                </a:r>
              </a:p>
            </p:txBody>
          </p:sp>
        </p:grp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5C5ADBE7-F02E-37B9-A708-9FDB4B898552}"/>
                </a:ext>
              </a:extLst>
            </p:cNvPr>
            <p:cNvCxnSpPr/>
            <p:nvPr/>
          </p:nvCxnSpPr>
          <p:spPr>
            <a:xfrm flipV="1">
              <a:off x="2066795" y="2518392"/>
              <a:ext cx="529590" cy="2540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E64E8BD7-DCDE-78D8-0BF0-55DA28C397AD}"/>
                </a:ext>
              </a:extLst>
            </p:cNvPr>
            <p:cNvSpPr txBox="1"/>
            <p:nvPr/>
          </p:nvSpPr>
          <p:spPr>
            <a:xfrm>
              <a:off x="1937890" y="2139297"/>
              <a:ext cx="833755" cy="3606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b="1" i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fusion</a:t>
              </a:r>
            </a:p>
          </p:txBody>
        </p:sp>
        <p:pic>
          <p:nvPicPr>
            <p:cNvPr id="96" name="图片 95" descr="filter_svg">
              <a:extLst>
                <a:ext uri="{FF2B5EF4-FFF2-40B4-BE49-F238E27FC236}">
                  <a16:creationId xmlns:a16="http://schemas.microsoft.com/office/drawing/2014/main" id="{0B92E4C8-0894-9408-13EC-3787E75BC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50055" y="2171682"/>
              <a:ext cx="589280" cy="589280"/>
            </a:xfrm>
            <a:prstGeom prst="rect">
              <a:avLst/>
            </a:prstGeom>
          </p:spPr>
        </p:pic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18F3FAE1-E075-20A5-159A-2AA284F5AA33}"/>
                </a:ext>
              </a:extLst>
            </p:cNvPr>
            <p:cNvCxnSpPr/>
            <p:nvPr/>
          </p:nvCxnSpPr>
          <p:spPr>
            <a:xfrm>
              <a:off x="3462207" y="943404"/>
              <a:ext cx="0" cy="2601798"/>
            </a:xfrm>
            <a:prstGeom prst="line">
              <a:avLst/>
            </a:prstGeom>
            <a:ln w="4445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8E140E0-2E6E-3BCA-072B-B7D7F35298F0}"/>
                </a:ext>
              </a:extLst>
            </p:cNvPr>
            <p:cNvSpPr txBox="1"/>
            <p:nvPr/>
          </p:nvSpPr>
          <p:spPr>
            <a:xfrm>
              <a:off x="8199635" y="198415"/>
              <a:ext cx="655955" cy="3619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0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SAM</a:t>
              </a:r>
            </a:p>
          </p:txBody>
        </p:sp>
        <p:sp>
          <p:nvSpPr>
            <p:cNvPr id="100" name="圆角矩形 27">
              <a:extLst>
                <a:ext uri="{FF2B5EF4-FFF2-40B4-BE49-F238E27FC236}">
                  <a16:creationId xmlns:a16="http://schemas.microsoft.com/office/drawing/2014/main" id="{4BD8A662-A500-E276-5A34-C16249E17D75}"/>
                </a:ext>
              </a:extLst>
            </p:cNvPr>
            <p:cNvSpPr/>
            <p:nvPr/>
          </p:nvSpPr>
          <p:spPr>
            <a:xfrm>
              <a:off x="5703671" y="658458"/>
              <a:ext cx="5751680" cy="3063818"/>
            </a:xfrm>
            <a:prstGeom prst="roundRect">
              <a:avLst/>
            </a:prstGeom>
            <a:solidFill>
              <a:srgbClr val="CCE2F7"/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2F5CB352-A3A7-8973-0386-5B6D6322BED7}"/>
                </a:ext>
              </a:extLst>
            </p:cNvPr>
            <p:cNvSpPr/>
            <p:nvPr/>
          </p:nvSpPr>
          <p:spPr>
            <a:xfrm>
              <a:off x="5774330" y="1818673"/>
              <a:ext cx="1467485" cy="70713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71AEAC8A-F605-2E4B-373F-749D440BD4D7}"/>
                </a:ext>
              </a:extLst>
            </p:cNvPr>
            <p:cNvSpPr txBox="1"/>
            <p:nvPr/>
          </p:nvSpPr>
          <p:spPr>
            <a:xfrm>
              <a:off x="5313002" y="1849075"/>
              <a:ext cx="239014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Image</a:t>
              </a:r>
            </a:p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Encoder</a:t>
              </a:r>
            </a:p>
          </p:txBody>
        </p: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7548BFDF-3591-EDCF-AB05-0B9218FCBD09}"/>
                </a:ext>
              </a:extLst>
            </p:cNvPr>
            <p:cNvGrpSpPr/>
            <p:nvPr/>
          </p:nvGrpSpPr>
          <p:grpSpPr>
            <a:xfrm>
              <a:off x="7733772" y="1376546"/>
              <a:ext cx="265955" cy="1849584"/>
              <a:chOff x="3986782" y="4558167"/>
              <a:chExt cx="265955" cy="1849584"/>
            </a:xfrm>
          </p:grpSpPr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BE88E06-9BBB-6F0B-E184-943595DB921B}"/>
                  </a:ext>
                </a:extLst>
              </p:cNvPr>
              <p:cNvSpPr/>
              <p:nvPr/>
            </p:nvSpPr>
            <p:spPr>
              <a:xfrm>
                <a:off x="3986782" y="4949952"/>
                <a:ext cx="265955" cy="27245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4BC7D1B8-6A42-F567-1425-E403EADEA02D}"/>
                  </a:ext>
                </a:extLst>
              </p:cNvPr>
              <p:cNvSpPr/>
              <p:nvPr/>
            </p:nvSpPr>
            <p:spPr>
              <a:xfrm>
                <a:off x="3986782" y="5343823"/>
                <a:ext cx="265955" cy="27245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0C42DC0C-9954-AD64-16D4-F6603ECD023E}"/>
                  </a:ext>
                </a:extLst>
              </p:cNvPr>
              <p:cNvSpPr/>
              <p:nvPr/>
            </p:nvSpPr>
            <p:spPr>
              <a:xfrm>
                <a:off x="3986782" y="5737694"/>
                <a:ext cx="265955" cy="27245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43FAD0EE-DB97-76A9-251C-2FAAA27FD5E7}"/>
                  </a:ext>
                </a:extLst>
              </p:cNvPr>
              <p:cNvSpPr/>
              <p:nvPr/>
            </p:nvSpPr>
            <p:spPr>
              <a:xfrm>
                <a:off x="3986782" y="6135292"/>
                <a:ext cx="265955" cy="27245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84C554F7-FA2E-642C-62B3-60AE57D0BCBF}"/>
                  </a:ext>
                </a:extLst>
              </p:cNvPr>
              <p:cNvSpPr/>
              <p:nvPr/>
            </p:nvSpPr>
            <p:spPr>
              <a:xfrm>
                <a:off x="3986782" y="4558167"/>
                <a:ext cx="265955" cy="27245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4B1F2476-DDC2-9A2A-47BF-5CB2AF34D1E2}"/>
                </a:ext>
              </a:extLst>
            </p:cNvPr>
            <p:cNvSpPr txBox="1"/>
            <p:nvPr/>
          </p:nvSpPr>
          <p:spPr>
            <a:xfrm>
              <a:off x="6671679" y="667645"/>
              <a:ext cx="239014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Image</a:t>
              </a:r>
            </a:p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Embedding</a:t>
              </a:r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35A27374-D15A-C5FE-E233-FE8B77443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4698" y="2187827"/>
              <a:ext cx="292510" cy="2540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梯形 113">
              <a:extLst>
                <a:ext uri="{FF2B5EF4-FFF2-40B4-BE49-F238E27FC236}">
                  <a16:creationId xmlns:a16="http://schemas.microsoft.com/office/drawing/2014/main" id="{0DF98A93-299B-7258-11E8-D0ABE86725C6}"/>
                </a:ext>
              </a:extLst>
            </p:cNvPr>
            <p:cNvSpPr/>
            <p:nvPr/>
          </p:nvSpPr>
          <p:spPr>
            <a:xfrm>
              <a:off x="8308510" y="2197872"/>
              <a:ext cx="853550" cy="417997"/>
            </a:xfrm>
            <a:prstGeom prst="trapezoid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4EFBE08C-2D4E-EC11-5E09-0E05EF770E80}"/>
                </a:ext>
              </a:extLst>
            </p:cNvPr>
            <p:cNvSpPr txBox="1"/>
            <p:nvPr/>
          </p:nvSpPr>
          <p:spPr>
            <a:xfrm>
              <a:off x="7550598" y="2231080"/>
              <a:ext cx="23901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conv</a:t>
              </a:r>
            </a:p>
          </p:txBody>
        </p: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1095154E-5A1B-58F5-FF60-BF68E9F1E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521" y="1382332"/>
              <a:ext cx="1263142" cy="2540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5755913E-81C7-78F4-8F98-B8E01C45BFF7}"/>
                </a:ext>
              </a:extLst>
            </p:cNvPr>
            <p:cNvSpPr/>
            <p:nvPr/>
          </p:nvSpPr>
          <p:spPr>
            <a:xfrm>
              <a:off x="8538848" y="1188006"/>
              <a:ext cx="368640" cy="3686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2D757165-EB69-3778-E056-6118A1FCBE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4462" y="2691780"/>
              <a:ext cx="2647" cy="293434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502320B3-6E02-74E1-8D49-FAD6A65EE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1576" y="1676367"/>
              <a:ext cx="0" cy="416499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FFA711AD-4353-E262-3D62-B6A5E9E8BECE}"/>
                </a:ext>
              </a:extLst>
            </p:cNvPr>
            <p:cNvCxnSpPr>
              <a:cxnSpLocks/>
            </p:cNvCxnSpPr>
            <p:nvPr/>
          </p:nvCxnSpPr>
          <p:spPr>
            <a:xfrm>
              <a:off x="8723168" y="1174377"/>
              <a:ext cx="0" cy="3657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04741183-7C42-BE06-A1DC-9D3D321006CF}"/>
                </a:ext>
              </a:extLst>
            </p:cNvPr>
            <p:cNvSpPr txBox="1"/>
            <p:nvPr/>
          </p:nvSpPr>
          <p:spPr>
            <a:xfrm>
              <a:off x="8273220" y="3023449"/>
              <a:ext cx="85671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mask</a:t>
              </a: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3C92C9D8-4CAA-50A5-A37E-E82748B9EF60}"/>
                </a:ext>
              </a:extLst>
            </p:cNvPr>
            <p:cNvSpPr/>
            <p:nvPr/>
          </p:nvSpPr>
          <p:spPr>
            <a:xfrm>
              <a:off x="9473146" y="1150684"/>
              <a:ext cx="1819355" cy="463296"/>
            </a:xfrm>
            <a:prstGeom prst="rect">
              <a:avLst/>
            </a:prstGeom>
            <a:solidFill>
              <a:srgbClr val="EF95D7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2807D496-42EB-14E9-2F41-8ACE513E6053}"/>
                </a:ext>
              </a:extLst>
            </p:cNvPr>
            <p:cNvSpPr/>
            <p:nvPr/>
          </p:nvSpPr>
          <p:spPr>
            <a:xfrm>
              <a:off x="9403384" y="2186420"/>
              <a:ext cx="1958878" cy="463296"/>
            </a:xfrm>
            <a:prstGeom prst="rect">
              <a:avLst/>
            </a:prstGeom>
            <a:solidFill>
              <a:srgbClr val="C780E4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8EB18E83-119E-1F0A-3BD1-0C2E56770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7416" y="1645347"/>
              <a:ext cx="0" cy="416499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A0BDF5D7-D7AA-C891-142F-1D2828CE5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2823" y="1645347"/>
              <a:ext cx="0" cy="416499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DCD7DF7-E030-F454-051C-C99CEC909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48536" y="1645347"/>
              <a:ext cx="0" cy="416499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B6C41E3F-24AC-0AB5-50CA-036D13613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1722" y="2714531"/>
              <a:ext cx="0" cy="416499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7299476D-8406-0049-3860-6BB50798E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07129" y="2714531"/>
              <a:ext cx="0" cy="416499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74A544F8-429A-C219-A613-A584F2D6D6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2842" y="2714531"/>
              <a:ext cx="0" cy="416499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5E45EEBF-1EEE-AE75-7E70-F8D5738A4832}"/>
                </a:ext>
              </a:extLst>
            </p:cNvPr>
            <p:cNvSpPr txBox="1"/>
            <p:nvPr/>
          </p:nvSpPr>
          <p:spPr>
            <a:xfrm>
              <a:off x="9226189" y="1192805"/>
              <a:ext cx="23901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Mask Decoder</a:t>
              </a: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FA3937B6-3FFE-BA54-8850-6DC7CF6D45D1}"/>
                </a:ext>
              </a:extLst>
            </p:cNvPr>
            <p:cNvSpPr txBox="1"/>
            <p:nvPr/>
          </p:nvSpPr>
          <p:spPr>
            <a:xfrm>
              <a:off x="9226189" y="2239997"/>
              <a:ext cx="23901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Prompt Encoder</a:t>
              </a: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AED5BA36-C840-D386-CEBA-DA25EE42865D}"/>
                </a:ext>
              </a:extLst>
            </p:cNvPr>
            <p:cNvSpPr txBox="1"/>
            <p:nvPr/>
          </p:nvSpPr>
          <p:spPr>
            <a:xfrm>
              <a:off x="9162060" y="3077288"/>
              <a:ext cx="102118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points</a:t>
              </a: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3EF6F931-7BA8-6081-2FE7-8E7AD0FD1208}"/>
                </a:ext>
              </a:extLst>
            </p:cNvPr>
            <p:cNvSpPr txBox="1"/>
            <p:nvPr/>
          </p:nvSpPr>
          <p:spPr>
            <a:xfrm>
              <a:off x="9922979" y="3091201"/>
              <a:ext cx="102118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box</a:t>
              </a: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FC51C76-CEA1-9D4F-7EE3-4BFA18AF8C8F}"/>
                </a:ext>
              </a:extLst>
            </p:cNvPr>
            <p:cNvSpPr txBox="1"/>
            <p:nvPr/>
          </p:nvSpPr>
          <p:spPr>
            <a:xfrm>
              <a:off x="10595143" y="3091201"/>
              <a:ext cx="102118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text</a:t>
              </a:r>
            </a:p>
          </p:txBody>
        </p:sp>
        <p:pic>
          <p:nvPicPr>
            <p:cNvPr id="142" name="图片 141" descr="固定">
              <a:extLst>
                <a:ext uri="{FF2B5EF4-FFF2-40B4-BE49-F238E27FC236}">
                  <a16:creationId xmlns:a16="http://schemas.microsoft.com/office/drawing/2014/main" id="{CD5A41ED-359A-899A-57A6-B0C008EC0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07216" y="1621048"/>
              <a:ext cx="419742" cy="419742"/>
            </a:xfrm>
            <a:prstGeom prst="rect">
              <a:avLst/>
            </a:prstGeom>
          </p:spPr>
        </p:pic>
        <p:pic>
          <p:nvPicPr>
            <p:cNvPr id="143" name="图片 142" descr="固定">
              <a:extLst>
                <a:ext uri="{FF2B5EF4-FFF2-40B4-BE49-F238E27FC236}">
                  <a16:creationId xmlns:a16="http://schemas.microsoft.com/office/drawing/2014/main" id="{BC91B0B5-7E26-8F56-1627-1D778684C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21211" y="1938807"/>
              <a:ext cx="419742" cy="419742"/>
            </a:xfrm>
            <a:prstGeom prst="rect">
              <a:avLst/>
            </a:prstGeom>
          </p:spPr>
        </p:pic>
        <p:pic>
          <p:nvPicPr>
            <p:cNvPr id="144" name="图片 143" descr="不固定">
              <a:extLst>
                <a:ext uri="{FF2B5EF4-FFF2-40B4-BE49-F238E27FC236}">
                  <a16:creationId xmlns:a16="http://schemas.microsoft.com/office/drawing/2014/main" id="{3BDBE86D-50F8-C32B-87B9-413A56455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95914" y="760200"/>
              <a:ext cx="499229" cy="499229"/>
            </a:xfrm>
            <a:prstGeom prst="rect">
              <a:avLst/>
            </a:prstGeom>
          </p:spPr>
        </p:pic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1DB79B7-9D44-372B-1DC5-A0554B9C54D1}"/>
                </a:ext>
              </a:extLst>
            </p:cNvPr>
            <p:cNvSpPr txBox="1"/>
            <p:nvPr/>
          </p:nvSpPr>
          <p:spPr>
            <a:xfrm>
              <a:off x="2713401" y="3828506"/>
              <a:ext cx="1382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Training</a:t>
              </a:r>
            </a:p>
          </p:txBody>
        </p:sp>
        <p:sp>
          <p:nvSpPr>
            <p:cNvPr id="146" name="圆角矩形 36">
              <a:extLst>
                <a:ext uri="{FF2B5EF4-FFF2-40B4-BE49-F238E27FC236}">
                  <a16:creationId xmlns:a16="http://schemas.microsoft.com/office/drawing/2014/main" id="{535FD848-F1E6-B2B0-375B-4DD3235DAE79}"/>
                </a:ext>
              </a:extLst>
            </p:cNvPr>
            <p:cNvSpPr/>
            <p:nvPr/>
          </p:nvSpPr>
          <p:spPr>
            <a:xfrm>
              <a:off x="6196285" y="4216645"/>
              <a:ext cx="5259066" cy="2441406"/>
            </a:xfrm>
            <a:prstGeom prst="roundRect">
              <a:avLst/>
            </a:prstGeom>
            <a:solidFill>
              <a:srgbClr val="FFC6A0"/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圆角矩形 59">
              <a:extLst>
                <a:ext uri="{FF2B5EF4-FFF2-40B4-BE49-F238E27FC236}">
                  <a16:creationId xmlns:a16="http://schemas.microsoft.com/office/drawing/2014/main" id="{1476B677-5D92-616A-0EBC-E20277583836}"/>
                </a:ext>
              </a:extLst>
            </p:cNvPr>
            <p:cNvSpPr/>
            <p:nvPr/>
          </p:nvSpPr>
          <p:spPr>
            <a:xfrm flipV="1">
              <a:off x="1031745" y="4216645"/>
              <a:ext cx="4896886" cy="2441406"/>
            </a:xfrm>
            <a:prstGeom prst="roundRect">
              <a:avLst/>
            </a:prstGeom>
            <a:solidFill>
              <a:srgbClr val="CFC0E6"/>
            </a:solidFill>
            <a:ln>
              <a:noFill/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52E951D-D38D-8E4A-5381-B78E30FF7DBD}"/>
                </a:ext>
              </a:extLst>
            </p:cNvPr>
            <p:cNvSpPr txBox="1"/>
            <p:nvPr/>
          </p:nvSpPr>
          <p:spPr>
            <a:xfrm>
              <a:off x="2088208" y="4282794"/>
              <a:ext cx="2633027" cy="39909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load image &amp; mask</a:t>
              </a: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0D773049-43C2-CF70-A8A8-D25671EF33E5}"/>
                </a:ext>
              </a:extLst>
            </p:cNvPr>
            <p:cNvSpPr txBox="1"/>
            <p:nvPr/>
          </p:nvSpPr>
          <p:spPr>
            <a:xfrm>
              <a:off x="1965337" y="4774551"/>
              <a:ext cx="26330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check sum(WT) &gt; 0 </a:t>
              </a:r>
              <a:r>
                <a:rPr lang="zh-CN" altLang="en-US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？</a:t>
              </a:r>
              <a:endPara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C19FCF6B-D723-FE67-85D0-CA219D9563C3}"/>
                </a:ext>
              </a:extLst>
            </p:cNvPr>
            <p:cNvSpPr txBox="1"/>
            <p:nvPr/>
          </p:nvSpPr>
          <p:spPr>
            <a:xfrm>
              <a:off x="1168461" y="5290860"/>
              <a:ext cx="4310381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  <a:sym typeface="+mn-ea"/>
                </a:rPr>
                <a:t>calculate bounding box </a:t>
              </a:r>
            </a:p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  <a:sym typeface="+mn-ea"/>
                </a:rPr>
                <a:t>&amp; add perturbation</a:t>
              </a: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8D515463-FFAC-F795-6281-D7B76CAC6E63}"/>
                </a:ext>
              </a:extLst>
            </p:cNvPr>
            <p:cNvSpPr txBox="1"/>
            <p:nvPr/>
          </p:nvSpPr>
          <p:spPr>
            <a:xfrm>
              <a:off x="1543819" y="6084169"/>
              <a:ext cx="3876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predict and calculate Loss</a:t>
              </a:r>
            </a:p>
          </p:txBody>
        </p: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07C11B5A-5D25-0218-384F-9C6F44FBF42A}"/>
                </a:ext>
              </a:extLst>
            </p:cNvPr>
            <p:cNvCxnSpPr>
              <a:cxnSpLocks/>
            </p:cNvCxnSpPr>
            <p:nvPr/>
          </p:nvCxnSpPr>
          <p:spPr>
            <a:xfrm>
              <a:off x="3180250" y="5937191"/>
              <a:ext cx="0" cy="216962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B0AEBB07-41B7-45AB-F649-2D090FACF0EF}"/>
                </a:ext>
              </a:extLst>
            </p:cNvPr>
            <p:cNvCxnSpPr>
              <a:cxnSpLocks/>
            </p:cNvCxnSpPr>
            <p:nvPr/>
          </p:nvCxnSpPr>
          <p:spPr>
            <a:xfrm>
              <a:off x="3180250" y="4659232"/>
              <a:ext cx="0" cy="216962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8AA6C6CA-0BD3-92D8-A2B6-3908B702AA8A}"/>
                </a:ext>
              </a:extLst>
            </p:cNvPr>
            <p:cNvCxnSpPr>
              <a:cxnSpLocks/>
            </p:cNvCxnSpPr>
            <p:nvPr/>
          </p:nvCxnSpPr>
          <p:spPr>
            <a:xfrm>
              <a:off x="3180250" y="5143883"/>
              <a:ext cx="0" cy="216962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64" name="图片 163" descr="加载">
              <a:extLst>
                <a:ext uri="{FF2B5EF4-FFF2-40B4-BE49-F238E27FC236}">
                  <a16:creationId xmlns:a16="http://schemas.microsoft.com/office/drawing/2014/main" id="{5BE9F8FB-37DA-88F4-6849-464A9306F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54585" y="4272281"/>
              <a:ext cx="440690" cy="440690"/>
            </a:xfrm>
            <a:prstGeom prst="rect">
              <a:avLst/>
            </a:prstGeom>
          </p:spPr>
        </p:pic>
        <p:pic>
          <p:nvPicPr>
            <p:cNvPr id="166" name="图片 165" descr="噪声">
              <a:extLst>
                <a:ext uri="{FF2B5EF4-FFF2-40B4-BE49-F238E27FC236}">
                  <a16:creationId xmlns:a16="http://schemas.microsoft.com/office/drawing/2014/main" id="{220A9231-FF51-0E4C-DA9F-E628E40CC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6928" y="5461912"/>
              <a:ext cx="475279" cy="475279"/>
            </a:xfrm>
            <a:prstGeom prst="rect">
              <a:avLst/>
            </a:prstGeom>
          </p:spPr>
        </p:pic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83A923D5-32FB-9A48-11C2-ABD9A7202C09}"/>
                </a:ext>
              </a:extLst>
            </p:cNvPr>
            <p:cNvSpPr txBox="1"/>
            <p:nvPr/>
          </p:nvSpPr>
          <p:spPr>
            <a:xfrm>
              <a:off x="7146633" y="3827002"/>
              <a:ext cx="352171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Inference &amp; Evaluation</a:t>
              </a:r>
            </a:p>
          </p:txBody>
        </p:sp>
        <p:pic>
          <p:nvPicPr>
            <p:cNvPr id="168" name="图片 167" descr="肿瘤科">
              <a:extLst>
                <a:ext uri="{FF2B5EF4-FFF2-40B4-BE49-F238E27FC236}">
                  <a16:creationId xmlns:a16="http://schemas.microsoft.com/office/drawing/2014/main" id="{5FF43601-9815-F8A1-94F3-E441104EC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38617" y="4185821"/>
              <a:ext cx="773430" cy="773430"/>
            </a:xfrm>
            <a:prstGeom prst="rect">
              <a:avLst/>
            </a:prstGeom>
          </p:spPr>
        </p:pic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FEF21DD0-7A68-BE95-CC7C-8535F5715AEB}"/>
                </a:ext>
              </a:extLst>
            </p:cNvPr>
            <p:cNvGrpSpPr/>
            <p:nvPr/>
          </p:nvGrpSpPr>
          <p:grpSpPr>
            <a:xfrm>
              <a:off x="6630623" y="4346227"/>
              <a:ext cx="4361815" cy="1310005"/>
              <a:chOff x="5914" y="8168"/>
              <a:chExt cx="6869" cy="2063"/>
            </a:xfrm>
          </p:grpSpPr>
          <p:sp>
            <p:nvSpPr>
              <p:cNvPr id="170" name="圆角矩形 64">
                <a:extLst>
                  <a:ext uri="{FF2B5EF4-FFF2-40B4-BE49-F238E27FC236}">
                    <a16:creationId xmlns:a16="http://schemas.microsoft.com/office/drawing/2014/main" id="{87E4C1CC-FCF2-8971-A107-2CEB2032D23F}"/>
                  </a:ext>
                </a:extLst>
              </p:cNvPr>
              <p:cNvSpPr/>
              <p:nvPr/>
            </p:nvSpPr>
            <p:spPr>
              <a:xfrm>
                <a:off x="6058" y="9409"/>
                <a:ext cx="2124" cy="788"/>
              </a:xfrm>
              <a:prstGeom prst="roundRect">
                <a:avLst/>
              </a:prstGeom>
              <a:solidFill>
                <a:srgbClr val="2C2C2C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圆角矩形 66">
                <a:extLst>
                  <a:ext uri="{FF2B5EF4-FFF2-40B4-BE49-F238E27FC236}">
                    <a16:creationId xmlns:a16="http://schemas.microsoft.com/office/drawing/2014/main" id="{ED07A74B-A2A0-5F9A-893F-66C02B8401FD}"/>
                  </a:ext>
                </a:extLst>
              </p:cNvPr>
              <p:cNvSpPr/>
              <p:nvPr/>
            </p:nvSpPr>
            <p:spPr>
              <a:xfrm>
                <a:off x="8341" y="9409"/>
                <a:ext cx="2119" cy="788"/>
              </a:xfrm>
              <a:prstGeom prst="roundRect">
                <a:avLst/>
              </a:prstGeom>
              <a:solidFill>
                <a:srgbClr val="2C2C2C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圆角矩形 68">
                <a:extLst>
                  <a:ext uri="{FF2B5EF4-FFF2-40B4-BE49-F238E27FC236}">
                    <a16:creationId xmlns:a16="http://schemas.microsoft.com/office/drawing/2014/main" id="{BD553E8E-5121-106E-8B65-5F97F88A1AEC}"/>
                  </a:ext>
                </a:extLst>
              </p:cNvPr>
              <p:cNvSpPr/>
              <p:nvPr/>
            </p:nvSpPr>
            <p:spPr>
              <a:xfrm>
                <a:off x="10606" y="9409"/>
                <a:ext cx="2061" cy="788"/>
              </a:xfrm>
              <a:prstGeom prst="roundRect">
                <a:avLst/>
              </a:prstGeom>
              <a:solidFill>
                <a:srgbClr val="2C2C2C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EF6C49A2-FCBD-0DE2-612F-666613DF8584}"/>
                  </a:ext>
                </a:extLst>
              </p:cNvPr>
              <p:cNvGrpSpPr/>
              <p:nvPr/>
            </p:nvGrpSpPr>
            <p:grpSpPr>
              <a:xfrm>
                <a:off x="5914" y="8168"/>
                <a:ext cx="6869" cy="2063"/>
                <a:chOff x="6588" y="8202"/>
                <a:chExt cx="6869" cy="2063"/>
              </a:xfrm>
            </p:grpSpPr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9BC5A280-7A59-83C8-71C4-1A9DEB25DD86}"/>
                    </a:ext>
                  </a:extLst>
                </p:cNvPr>
                <p:cNvSpPr txBox="1"/>
                <p:nvPr/>
              </p:nvSpPr>
              <p:spPr>
                <a:xfrm>
                  <a:off x="8733" y="8202"/>
                  <a:ext cx="2350" cy="58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Cascadia Code" panose="020B0609020000020004" charset="0"/>
                      <a:ea typeface="Inter"/>
                      <a:cs typeface="Cascadia Code" panose="020B0609020000020004" charset="0"/>
                      <a:sym typeface="+mn-ea"/>
                    </a:rPr>
                    <a:t>inference</a:t>
                  </a:r>
                </a:p>
              </p:txBody>
            </p:sp>
            <p:cxnSp>
              <p:nvCxnSpPr>
                <p:cNvPr id="175" name="直接箭头连接符 174">
                  <a:extLst>
                    <a:ext uri="{FF2B5EF4-FFF2-40B4-BE49-F238E27FC236}">
                      <a16:creationId xmlns:a16="http://schemas.microsoft.com/office/drawing/2014/main" id="{8CC4B05B-340F-9756-CAEC-DE5051574A46}"/>
                    </a:ext>
                  </a:extLst>
                </p:cNvPr>
                <p:cNvCxnSpPr/>
                <p:nvPr/>
              </p:nvCxnSpPr>
              <p:spPr>
                <a:xfrm>
                  <a:off x="10370" y="8775"/>
                  <a:ext cx="910" cy="526"/>
                </a:xfrm>
                <a:prstGeom prst="straightConnector1">
                  <a:avLst/>
                </a:prstGeom>
                <a:ln w="31750" cap="rnd">
                  <a:solidFill>
                    <a:schemeClr val="tx1"/>
                  </a:solidFill>
                  <a:round/>
                  <a:tailEnd type="arrow" w="med" len="med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箭头连接符 175">
                  <a:extLst>
                    <a:ext uri="{FF2B5EF4-FFF2-40B4-BE49-F238E27FC236}">
                      <a16:creationId xmlns:a16="http://schemas.microsoft.com/office/drawing/2014/main" id="{A6FB1104-C604-945A-B4F8-4FA4187D9AD8}"/>
                    </a:ext>
                  </a:extLst>
                </p:cNvPr>
                <p:cNvCxnSpPr/>
                <p:nvPr/>
              </p:nvCxnSpPr>
              <p:spPr>
                <a:xfrm flipH="1">
                  <a:off x="8366" y="8764"/>
                  <a:ext cx="865" cy="577"/>
                </a:xfrm>
                <a:prstGeom prst="straightConnector1">
                  <a:avLst/>
                </a:prstGeom>
                <a:ln w="31750" cap="rnd">
                  <a:solidFill>
                    <a:schemeClr val="tx1"/>
                  </a:solidFill>
                  <a:round/>
                  <a:tailEnd type="arrow" w="med" len="med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箭头连接符 176">
                  <a:extLst>
                    <a:ext uri="{FF2B5EF4-FFF2-40B4-BE49-F238E27FC236}">
                      <a16:creationId xmlns:a16="http://schemas.microsoft.com/office/drawing/2014/main" id="{02CFBF71-0B5B-AC41-DB32-863E28614ADB}"/>
                    </a:ext>
                  </a:extLst>
                </p:cNvPr>
                <p:cNvCxnSpPr/>
                <p:nvPr/>
              </p:nvCxnSpPr>
              <p:spPr>
                <a:xfrm>
                  <a:off x="9780" y="8775"/>
                  <a:ext cx="11" cy="523"/>
                </a:xfrm>
                <a:prstGeom prst="straightConnector1">
                  <a:avLst/>
                </a:prstGeom>
                <a:ln w="31750" cap="rnd">
                  <a:solidFill>
                    <a:schemeClr val="tx1"/>
                  </a:solidFill>
                  <a:round/>
                  <a:tailEnd type="arrow" w="med" len="med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938E11EC-0639-66D5-67C6-C6963E0A4D4D}"/>
                    </a:ext>
                  </a:extLst>
                </p:cNvPr>
                <p:cNvSpPr txBox="1"/>
                <p:nvPr/>
              </p:nvSpPr>
              <p:spPr>
                <a:xfrm>
                  <a:off x="6588" y="9443"/>
                  <a:ext cx="2427" cy="82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400" b="1">
                      <a:solidFill>
                        <a:schemeClr val="bg1"/>
                      </a:solidFill>
                      <a:latin typeface="Cascadia Code" panose="020B0609020000020004" charset="0"/>
                      <a:ea typeface="Inter"/>
                      <a:cs typeface="Cascadia Code" panose="020B0609020000020004" charset="0"/>
                    </a:rPr>
                    <a:t>WT Segmentation</a:t>
                  </a:r>
                </a:p>
              </p:txBody>
            </p:sp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CD851828-0487-5078-D334-8AA9D83D0BC4}"/>
                    </a:ext>
                  </a:extLst>
                </p:cNvPr>
                <p:cNvSpPr txBox="1"/>
                <p:nvPr/>
              </p:nvSpPr>
              <p:spPr>
                <a:xfrm>
                  <a:off x="8856" y="9409"/>
                  <a:ext cx="2378" cy="82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solidFill>
                        <a:schemeClr val="bg1"/>
                      </a:solidFill>
                      <a:latin typeface="Cascadia Code" panose="020B0609020000020004" charset="0"/>
                      <a:ea typeface="Inter"/>
                      <a:cs typeface="Cascadia Code" panose="020B0609020000020004" charset="0"/>
                      <a:sym typeface="+mn-ea"/>
                    </a:rPr>
                    <a:t>TC Segmentation</a:t>
                  </a:r>
                </a:p>
              </p:txBody>
            </p:sp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043A536C-E6D8-8B42-DCBA-8A8B26218A9C}"/>
                    </a:ext>
                  </a:extLst>
                </p:cNvPr>
                <p:cNvSpPr txBox="1"/>
                <p:nvPr/>
              </p:nvSpPr>
              <p:spPr>
                <a:xfrm>
                  <a:off x="11134" y="9409"/>
                  <a:ext cx="2323" cy="82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solidFill>
                        <a:schemeClr val="bg1"/>
                      </a:solidFill>
                      <a:latin typeface="Cascadia Code" panose="020B0609020000020004" charset="0"/>
                      <a:ea typeface="Inter"/>
                      <a:cs typeface="Cascadia Code" panose="020B0609020000020004" charset="0"/>
                      <a:sym typeface="+mn-ea"/>
                    </a:rPr>
                    <a:t>ET Segmentation</a:t>
                  </a:r>
                </a:p>
              </p:txBody>
            </p:sp>
          </p:grpSp>
        </p:grp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09B7AD2C-C2FC-5D86-3705-D7FC21D2B173}"/>
                </a:ext>
              </a:extLst>
            </p:cNvPr>
            <p:cNvSpPr txBox="1"/>
            <p:nvPr/>
          </p:nvSpPr>
          <p:spPr>
            <a:xfrm>
              <a:off x="7932563" y="5788063"/>
              <a:ext cx="164827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  <a:sym typeface="+mn-ea"/>
                </a:rPr>
                <a:t>Evaluation</a:t>
              </a:r>
            </a:p>
          </p:txBody>
        </p:sp>
        <p:sp>
          <p:nvSpPr>
            <p:cNvPr id="184" name="圆角矩形 42">
              <a:extLst>
                <a:ext uri="{FF2B5EF4-FFF2-40B4-BE49-F238E27FC236}">
                  <a16:creationId xmlns:a16="http://schemas.microsoft.com/office/drawing/2014/main" id="{1988BFEB-7797-C544-5D43-F167F74ED72D}"/>
                </a:ext>
              </a:extLst>
            </p:cNvPr>
            <p:cNvSpPr/>
            <p:nvPr/>
          </p:nvSpPr>
          <p:spPr>
            <a:xfrm>
              <a:off x="8088138" y="6249608"/>
              <a:ext cx="1181100" cy="316230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448633FF-BE5F-7513-1613-60619E03B419}"/>
                </a:ext>
              </a:extLst>
            </p:cNvPr>
            <p:cNvSpPr txBox="1"/>
            <p:nvPr/>
          </p:nvSpPr>
          <p:spPr>
            <a:xfrm>
              <a:off x="8101378" y="6228653"/>
              <a:ext cx="1310640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Dice Score</a:t>
              </a:r>
              <a:r>
                <a:rPr lang="en-US" altLang="zh-CN" sz="16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586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3">
            <a:extLst>
              <a:ext uri="{FF2B5EF4-FFF2-40B4-BE49-F238E27FC236}">
                <a16:creationId xmlns:a16="http://schemas.microsoft.com/office/drawing/2014/main" id="{2C98762E-BE92-42D9-8566-4D9458AF17E7}"/>
              </a:ext>
            </a:extLst>
          </p:cNvPr>
          <p:cNvSpPr/>
          <p:nvPr/>
        </p:nvSpPr>
        <p:spPr>
          <a:xfrm>
            <a:off x="1031745" y="635617"/>
            <a:ext cx="4411980" cy="31661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8C1AA7-989A-252A-32A3-DF9C8602EB6B}"/>
              </a:ext>
            </a:extLst>
          </p:cNvPr>
          <p:cNvSpPr txBox="1"/>
          <p:nvPr/>
        </p:nvSpPr>
        <p:spPr>
          <a:xfrm>
            <a:off x="1678022" y="198415"/>
            <a:ext cx="3119425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D</a:t>
            </a: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ata </a:t>
            </a:r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</a:t>
            </a: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reprocessing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05E3A1-719F-B9DA-B22A-DDB6EDFB1735}"/>
              </a:ext>
            </a:extLst>
          </p:cNvPr>
          <p:cNvSpPr txBox="1"/>
          <p:nvPr/>
        </p:nvSpPr>
        <p:spPr>
          <a:xfrm>
            <a:off x="1192723" y="784972"/>
            <a:ext cx="2373630" cy="3168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Construction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A12655E-8752-98F9-031E-16148C28EDFA}"/>
              </a:ext>
            </a:extLst>
          </p:cNvPr>
          <p:cNvGrpSpPr/>
          <p:nvPr/>
        </p:nvGrpSpPr>
        <p:grpSpPr>
          <a:xfrm>
            <a:off x="432213" y="1528726"/>
            <a:ext cx="2360930" cy="2157730"/>
            <a:chOff x="12253" y="3010"/>
            <a:chExt cx="3810" cy="3810"/>
          </a:xfrm>
        </p:grpSpPr>
        <p:pic>
          <p:nvPicPr>
            <p:cNvPr id="83" name="图片 82" descr="3个点">
              <a:extLst>
                <a:ext uri="{FF2B5EF4-FFF2-40B4-BE49-F238E27FC236}">
                  <a16:creationId xmlns:a16="http://schemas.microsoft.com/office/drawing/2014/main" id="{84F10D3A-7630-EEAC-F711-59FDACDFB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53" y="3010"/>
              <a:ext cx="3810" cy="3810"/>
            </a:xfrm>
            <a:prstGeom prst="rect">
              <a:avLst/>
            </a:prstGeom>
          </p:spPr>
        </p:pic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D7F67792-A10C-4E53-706A-1ED2925563DC}"/>
                </a:ext>
              </a:extLst>
            </p:cNvPr>
            <p:cNvSpPr txBox="1"/>
            <p:nvPr/>
          </p:nvSpPr>
          <p:spPr>
            <a:xfrm>
              <a:off x="13554" y="4659"/>
              <a:ext cx="1289" cy="52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sz="1600" b="1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FLAIR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36AA499F-A485-CB8B-433E-79710DC10D92}"/>
                </a:ext>
              </a:extLst>
            </p:cNvPr>
            <p:cNvSpPr txBox="1"/>
            <p:nvPr/>
          </p:nvSpPr>
          <p:spPr>
            <a:xfrm>
              <a:off x="13640" y="3310"/>
              <a:ext cx="1134" cy="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T1ce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6FDB143-06B8-21BA-AF93-5933D0DC02C6}"/>
                </a:ext>
              </a:extLst>
            </p:cNvPr>
            <p:cNvSpPr txBox="1"/>
            <p:nvPr/>
          </p:nvSpPr>
          <p:spPr>
            <a:xfrm>
              <a:off x="13839" y="5900"/>
              <a:ext cx="841" cy="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T2</a:t>
              </a:r>
            </a:p>
          </p:txBody>
        </p: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AF23BD75-EB65-4A57-3AA2-A3FFB8262442}"/>
              </a:ext>
            </a:extLst>
          </p:cNvPr>
          <p:cNvSpPr txBox="1"/>
          <p:nvPr/>
        </p:nvSpPr>
        <p:spPr>
          <a:xfrm>
            <a:off x="3237734" y="784972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Generation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21B0F6D2-F83D-530A-5726-EE9FAD81412C}"/>
              </a:ext>
            </a:extLst>
          </p:cNvPr>
          <p:cNvGrpSpPr/>
          <p:nvPr/>
        </p:nvGrpSpPr>
        <p:grpSpPr>
          <a:xfrm>
            <a:off x="3539677" y="1479150"/>
            <a:ext cx="2211705" cy="1905000"/>
            <a:chOff x="5998" y="3045"/>
            <a:chExt cx="3483" cy="3000"/>
          </a:xfrm>
        </p:grpSpPr>
        <p:pic>
          <p:nvPicPr>
            <p:cNvPr id="89" name="图片 88" descr="一行三列">
              <a:extLst>
                <a:ext uri="{FF2B5EF4-FFF2-40B4-BE49-F238E27FC236}">
                  <a16:creationId xmlns:a16="http://schemas.microsoft.com/office/drawing/2014/main" id="{72A6B780-C9BE-B177-856C-004784086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8" y="3045"/>
              <a:ext cx="3000" cy="3000"/>
            </a:xfrm>
            <a:prstGeom prst="rect">
              <a:avLst/>
            </a:prstGeom>
          </p:spPr>
        </p:pic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DD2A2010-00D0-E95E-F84B-9D9195C68382}"/>
                </a:ext>
              </a:extLst>
            </p:cNvPr>
            <p:cNvSpPr txBox="1"/>
            <p:nvPr/>
          </p:nvSpPr>
          <p:spPr>
            <a:xfrm>
              <a:off x="6195" y="3982"/>
              <a:ext cx="10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WT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9F2E560-E090-89AD-41F2-F0A6D92DCFBF}"/>
                </a:ext>
              </a:extLst>
            </p:cNvPr>
            <p:cNvSpPr txBox="1"/>
            <p:nvPr/>
          </p:nvSpPr>
          <p:spPr>
            <a:xfrm>
              <a:off x="7170" y="3982"/>
              <a:ext cx="8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TC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04342F37-4C61-C038-EBE6-A077B6C98946}"/>
                </a:ext>
              </a:extLst>
            </p:cNvPr>
            <p:cNvSpPr txBox="1"/>
            <p:nvPr/>
          </p:nvSpPr>
          <p:spPr>
            <a:xfrm>
              <a:off x="8093" y="3982"/>
              <a:ext cx="13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ET</a:t>
              </a:r>
            </a:p>
          </p:txBody>
        </p:sp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5C5ADBE7-F02E-37B9-A708-9FDB4B898552}"/>
              </a:ext>
            </a:extLst>
          </p:cNvPr>
          <p:cNvCxnSpPr/>
          <p:nvPr/>
        </p:nvCxnSpPr>
        <p:spPr>
          <a:xfrm flipV="1">
            <a:off x="2066795" y="2518392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64E8BD7-DCDE-78D8-0BF0-55DA28C397AD}"/>
              </a:ext>
            </a:extLst>
          </p:cNvPr>
          <p:cNvSpPr txBox="1"/>
          <p:nvPr/>
        </p:nvSpPr>
        <p:spPr>
          <a:xfrm>
            <a:off x="1937890" y="2139297"/>
            <a:ext cx="833755" cy="360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i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fusion</a:t>
            </a:r>
          </a:p>
        </p:txBody>
      </p:sp>
      <p:pic>
        <p:nvPicPr>
          <p:cNvPr id="96" name="图片 95" descr="filter_svg">
            <a:extLst>
              <a:ext uri="{FF2B5EF4-FFF2-40B4-BE49-F238E27FC236}">
                <a16:creationId xmlns:a16="http://schemas.microsoft.com/office/drawing/2014/main" id="{0B92E4C8-0894-9408-13EC-3787E75BC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055" y="2171682"/>
            <a:ext cx="589280" cy="589280"/>
          </a:xfrm>
          <a:prstGeom prst="rect">
            <a:avLst/>
          </a:prstGeom>
        </p:spPr>
      </p:pic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8F3FAE1-E075-20A5-159A-2AA284F5AA33}"/>
              </a:ext>
            </a:extLst>
          </p:cNvPr>
          <p:cNvCxnSpPr/>
          <p:nvPr/>
        </p:nvCxnSpPr>
        <p:spPr>
          <a:xfrm>
            <a:off x="3462207" y="943404"/>
            <a:ext cx="0" cy="2601798"/>
          </a:xfrm>
          <a:prstGeom prst="line">
            <a:avLst/>
          </a:prstGeom>
          <a:ln w="444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68E140E0-2E6E-3BCA-072B-B7D7F35298F0}"/>
              </a:ext>
            </a:extLst>
          </p:cNvPr>
          <p:cNvSpPr txBox="1"/>
          <p:nvPr/>
        </p:nvSpPr>
        <p:spPr>
          <a:xfrm>
            <a:off x="8199635" y="198415"/>
            <a:ext cx="655955" cy="361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SAM</a:t>
            </a:r>
          </a:p>
        </p:txBody>
      </p:sp>
      <p:sp>
        <p:nvSpPr>
          <p:cNvPr id="100" name="圆角矩形 27">
            <a:extLst>
              <a:ext uri="{FF2B5EF4-FFF2-40B4-BE49-F238E27FC236}">
                <a16:creationId xmlns:a16="http://schemas.microsoft.com/office/drawing/2014/main" id="{4BD8A662-A500-E276-5A34-C16249E17D75}"/>
              </a:ext>
            </a:extLst>
          </p:cNvPr>
          <p:cNvSpPr/>
          <p:nvPr/>
        </p:nvSpPr>
        <p:spPr>
          <a:xfrm>
            <a:off x="5703671" y="658458"/>
            <a:ext cx="5751680" cy="3063818"/>
          </a:xfrm>
          <a:prstGeom prst="roundRect">
            <a:avLst/>
          </a:prstGeom>
          <a:solidFill>
            <a:srgbClr val="CCE2F7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F5CB352-A3A7-8973-0386-5B6D6322BED7}"/>
              </a:ext>
            </a:extLst>
          </p:cNvPr>
          <p:cNvSpPr/>
          <p:nvPr/>
        </p:nvSpPr>
        <p:spPr>
          <a:xfrm>
            <a:off x="5774330" y="1818673"/>
            <a:ext cx="1467485" cy="707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1AEAC8A-F605-2E4B-373F-749D440BD4D7}"/>
              </a:ext>
            </a:extLst>
          </p:cNvPr>
          <p:cNvSpPr txBox="1"/>
          <p:nvPr/>
        </p:nvSpPr>
        <p:spPr>
          <a:xfrm>
            <a:off x="5313002" y="1849075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Encoder</a:t>
            </a: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548BFDF-3591-EDCF-AB05-0B9218FCBD09}"/>
              </a:ext>
            </a:extLst>
          </p:cNvPr>
          <p:cNvGrpSpPr/>
          <p:nvPr/>
        </p:nvGrpSpPr>
        <p:grpSpPr>
          <a:xfrm>
            <a:off x="7733772" y="1376546"/>
            <a:ext cx="265955" cy="1849584"/>
            <a:chOff x="3986782" y="4558167"/>
            <a:chExt cx="265955" cy="1849584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BE88E06-9BBB-6F0B-E184-943595DB921B}"/>
                </a:ext>
              </a:extLst>
            </p:cNvPr>
            <p:cNvSpPr/>
            <p:nvPr/>
          </p:nvSpPr>
          <p:spPr>
            <a:xfrm>
              <a:off x="3986782" y="494995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BC7D1B8-6A42-F567-1425-E403EADEA02D}"/>
                </a:ext>
              </a:extLst>
            </p:cNvPr>
            <p:cNvSpPr/>
            <p:nvPr/>
          </p:nvSpPr>
          <p:spPr>
            <a:xfrm>
              <a:off x="3986782" y="5343823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0C42DC0C-9954-AD64-16D4-F6603ECD023E}"/>
                </a:ext>
              </a:extLst>
            </p:cNvPr>
            <p:cNvSpPr/>
            <p:nvPr/>
          </p:nvSpPr>
          <p:spPr>
            <a:xfrm>
              <a:off x="3986782" y="5737694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43FAD0EE-DB97-76A9-251C-2FAAA27FD5E7}"/>
                </a:ext>
              </a:extLst>
            </p:cNvPr>
            <p:cNvSpPr/>
            <p:nvPr/>
          </p:nvSpPr>
          <p:spPr>
            <a:xfrm>
              <a:off x="3986782" y="613529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4C554F7-FA2E-642C-62B3-60AE57D0BCBF}"/>
                </a:ext>
              </a:extLst>
            </p:cNvPr>
            <p:cNvSpPr/>
            <p:nvPr/>
          </p:nvSpPr>
          <p:spPr>
            <a:xfrm>
              <a:off x="3986782" y="4558167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B1F2476-DDC2-9A2A-47BF-5CB2AF34D1E2}"/>
              </a:ext>
            </a:extLst>
          </p:cNvPr>
          <p:cNvSpPr txBox="1"/>
          <p:nvPr/>
        </p:nvSpPr>
        <p:spPr>
          <a:xfrm>
            <a:off x="6671679" y="667645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Embedding</a:t>
            </a: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5A27374-D15A-C5FE-E233-FE8B77443B0C}"/>
              </a:ext>
            </a:extLst>
          </p:cNvPr>
          <p:cNvCxnSpPr>
            <a:cxnSpLocks/>
          </p:cNvCxnSpPr>
          <p:nvPr/>
        </p:nvCxnSpPr>
        <p:spPr>
          <a:xfrm flipV="1">
            <a:off x="7344698" y="2187827"/>
            <a:ext cx="29251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梯形 113">
            <a:extLst>
              <a:ext uri="{FF2B5EF4-FFF2-40B4-BE49-F238E27FC236}">
                <a16:creationId xmlns:a16="http://schemas.microsoft.com/office/drawing/2014/main" id="{0DF98A93-299B-7258-11E8-D0ABE86725C6}"/>
              </a:ext>
            </a:extLst>
          </p:cNvPr>
          <p:cNvSpPr/>
          <p:nvPr/>
        </p:nvSpPr>
        <p:spPr>
          <a:xfrm>
            <a:off x="8308510" y="2197872"/>
            <a:ext cx="853550" cy="417997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EFBE08C-2D4E-EC11-5E09-0E05EF770E80}"/>
              </a:ext>
            </a:extLst>
          </p:cNvPr>
          <p:cNvSpPr txBox="1"/>
          <p:nvPr/>
        </p:nvSpPr>
        <p:spPr>
          <a:xfrm>
            <a:off x="7550598" y="2231080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conv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095154E-5A1B-58F5-FF60-BF68E9F1EC8A}"/>
              </a:ext>
            </a:extLst>
          </p:cNvPr>
          <p:cNvCxnSpPr>
            <a:cxnSpLocks/>
          </p:cNvCxnSpPr>
          <p:nvPr/>
        </p:nvCxnSpPr>
        <p:spPr>
          <a:xfrm flipV="1">
            <a:off x="8127521" y="1382332"/>
            <a:ext cx="1263142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5755913E-81C7-78F4-8F98-B8E01C45BFF7}"/>
              </a:ext>
            </a:extLst>
          </p:cNvPr>
          <p:cNvSpPr/>
          <p:nvPr/>
        </p:nvSpPr>
        <p:spPr>
          <a:xfrm>
            <a:off x="8538848" y="1188006"/>
            <a:ext cx="368640" cy="368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2D757165-EB69-3778-E056-6118A1FCBE83}"/>
              </a:ext>
            </a:extLst>
          </p:cNvPr>
          <p:cNvCxnSpPr>
            <a:cxnSpLocks/>
          </p:cNvCxnSpPr>
          <p:nvPr/>
        </p:nvCxnSpPr>
        <p:spPr>
          <a:xfrm flipH="1" flipV="1">
            <a:off x="8704462" y="2691780"/>
            <a:ext cx="2647" cy="29343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502320B3-6E02-74E1-8D49-FAD6A65EE473}"/>
              </a:ext>
            </a:extLst>
          </p:cNvPr>
          <p:cNvCxnSpPr>
            <a:cxnSpLocks/>
          </p:cNvCxnSpPr>
          <p:nvPr/>
        </p:nvCxnSpPr>
        <p:spPr>
          <a:xfrm flipV="1">
            <a:off x="8701576" y="167636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FFA711AD-4353-E262-3D62-B6A5E9E8BECE}"/>
              </a:ext>
            </a:extLst>
          </p:cNvPr>
          <p:cNvCxnSpPr>
            <a:cxnSpLocks/>
          </p:cNvCxnSpPr>
          <p:nvPr/>
        </p:nvCxnSpPr>
        <p:spPr>
          <a:xfrm>
            <a:off x="8723168" y="1174377"/>
            <a:ext cx="0" cy="365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4741183-7C42-BE06-A1DC-9D3D321006CF}"/>
              </a:ext>
            </a:extLst>
          </p:cNvPr>
          <p:cNvSpPr txBox="1"/>
          <p:nvPr/>
        </p:nvSpPr>
        <p:spPr>
          <a:xfrm>
            <a:off x="8273220" y="3023449"/>
            <a:ext cx="856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C92C9D8-4CAA-50A5-A37E-E82748B9EF60}"/>
              </a:ext>
            </a:extLst>
          </p:cNvPr>
          <p:cNvSpPr/>
          <p:nvPr/>
        </p:nvSpPr>
        <p:spPr>
          <a:xfrm>
            <a:off x="9473146" y="1150684"/>
            <a:ext cx="1819355" cy="463296"/>
          </a:xfrm>
          <a:prstGeom prst="rect">
            <a:avLst/>
          </a:prstGeom>
          <a:solidFill>
            <a:srgbClr val="EF95D7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807D496-42EB-14E9-2F41-8ACE513E6053}"/>
              </a:ext>
            </a:extLst>
          </p:cNvPr>
          <p:cNvSpPr/>
          <p:nvPr/>
        </p:nvSpPr>
        <p:spPr>
          <a:xfrm>
            <a:off x="9403384" y="2186420"/>
            <a:ext cx="1958878" cy="463296"/>
          </a:xfrm>
          <a:prstGeom prst="rect">
            <a:avLst/>
          </a:prstGeom>
          <a:solidFill>
            <a:srgbClr val="C780E4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8EB18E83-119E-1F0A-3BD1-0C2E567703EF}"/>
              </a:ext>
            </a:extLst>
          </p:cNvPr>
          <p:cNvCxnSpPr>
            <a:cxnSpLocks/>
          </p:cNvCxnSpPr>
          <p:nvPr/>
        </p:nvCxnSpPr>
        <p:spPr>
          <a:xfrm flipV="1">
            <a:off x="9707416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A0BDF5D7-D7AA-C891-142F-1D2828CE53E4}"/>
              </a:ext>
            </a:extLst>
          </p:cNvPr>
          <p:cNvCxnSpPr>
            <a:cxnSpLocks/>
          </p:cNvCxnSpPr>
          <p:nvPr/>
        </p:nvCxnSpPr>
        <p:spPr>
          <a:xfrm flipV="1">
            <a:off x="10382823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EDCD7DF7-E030-F454-051C-C99CEC9095C8}"/>
              </a:ext>
            </a:extLst>
          </p:cNvPr>
          <p:cNvCxnSpPr>
            <a:cxnSpLocks/>
          </p:cNvCxnSpPr>
          <p:nvPr/>
        </p:nvCxnSpPr>
        <p:spPr>
          <a:xfrm flipV="1">
            <a:off x="11048536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B6C41E3F-24AC-0AB5-50CA-036D1361311D}"/>
              </a:ext>
            </a:extLst>
          </p:cNvPr>
          <p:cNvCxnSpPr>
            <a:cxnSpLocks/>
          </p:cNvCxnSpPr>
          <p:nvPr/>
        </p:nvCxnSpPr>
        <p:spPr>
          <a:xfrm flipV="1">
            <a:off x="9731722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7299476D-8406-0049-3860-6BB50798E2C6}"/>
              </a:ext>
            </a:extLst>
          </p:cNvPr>
          <p:cNvCxnSpPr>
            <a:cxnSpLocks/>
          </p:cNvCxnSpPr>
          <p:nvPr/>
        </p:nvCxnSpPr>
        <p:spPr>
          <a:xfrm flipV="1">
            <a:off x="10407129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74A544F8-429A-C219-A613-A584F2D6D69B}"/>
              </a:ext>
            </a:extLst>
          </p:cNvPr>
          <p:cNvCxnSpPr>
            <a:cxnSpLocks/>
          </p:cNvCxnSpPr>
          <p:nvPr/>
        </p:nvCxnSpPr>
        <p:spPr>
          <a:xfrm flipV="1">
            <a:off x="11072842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E45EEBF-1EEE-AE75-7E70-F8D5738A4832}"/>
              </a:ext>
            </a:extLst>
          </p:cNvPr>
          <p:cNvSpPr txBox="1"/>
          <p:nvPr/>
        </p:nvSpPr>
        <p:spPr>
          <a:xfrm>
            <a:off x="9226189" y="1192805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Decoder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A3937B6-3FFE-BA54-8850-6DC7CF6D45D1}"/>
              </a:ext>
            </a:extLst>
          </p:cNvPr>
          <p:cNvSpPr txBox="1"/>
          <p:nvPr/>
        </p:nvSpPr>
        <p:spPr>
          <a:xfrm>
            <a:off x="9226189" y="2239997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Prompt Encoder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ED5BA36-C840-D386-CEBA-DA25EE42865D}"/>
              </a:ext>
            </a:extLst>
          </p:cNvPr>
          <p:cNvSpPr txBox="1"/>
          <p:nvPr/>
        </p:nvSpPr>
        <p:spPr>
          <a:xfrm>
            <a:off x="9162060" y="3077288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points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EF6F931-7BA8-6081-2FE7-8E7AD0FD1208}"/>
              </a:ext>
            </a:extLst>
          </p:cNvPr>
          <p:cNvSpPr txBox="1"/>
          <p:nvPr/>
        </p:nvSpPr>
        <p:spPr>
          <a:xfrm>
            <a:off x="9922979" y="3091201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box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4FC51C76-CEA1-9D4F-7EE3-4BFA18AF8C8F}"/>
              </a:ext>
            </a:extLst>
          </p:cNvPr>
          <p:cNvSpPr txBox="1"/>
          <p:nvPr/>
        </p:nvSpPr>
        <p:spPr>
          <a:xfrm>
            <a:off x="10595143" y="3091201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text</a:t>
            </a:r>
          </a:p>
        </p:txBody>
      </p:sp>
      <p:pic>
        <p:nvPicPr>
          <p:cNvPr id="142" name="图片 141" descr="固定">
            <a:extLst>
              <a:ext uri="{FF2B5EF4-FFF2-40B4-BE49-F238E27FC236}">
                <a16:creationId xmlns:a16="http://schemas.microsoft.com/office/drawing/2014/main" id="{CD5A41ED-359A-899A-57A6-B0C008EC0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216" y="1621048"/>
            <a:ext cx="419742" cy="419742"/>
          </a:xfrm>
          <a:prstGeom prst="rect">
            <a:avLst/>
          </a:prstGeom>
        </p:spPr>
      </p:pic>
      <p:pic>
        <p:nvPicPr>
          <p:cNvPr id="143" name="图片 142" descr="固定">
            <a:extLst>
              <a:ext uri="{FF2B5EF4-FFF2-40B4-BE49-F238E27FC236}">
                <a16:creationId xmlns:a16="http://schemas.microsoft.com/office/drawing/2014/main" id="{BC91B0B5-7E26-8F56-1627-1D778684C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1211" y="1938807"/>
            <a:ext cx="419742" cy="419742"/>
          </a:xfrm>
          <a:prstGeom prst="rect">
            <a:avLst/>
          </a:prstGeom>
        </p:spPr>
      </p:pic>
      <p:pic>
        <p:nvPicPr>
          <p:cNvPr id="144" name="图片 143" descr="不固定">
            <a:extLst>
              <a:ext uri="{FF2B5EF4-FFF2-40B4-BE49-F238E27FC236}">
                <a16:creationId xmlns:a16="http://schemas.microsoft.com/office/drawing/2014/main" id="{3BDBE86D-50F8-C32B-87B9-413A56455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914" y="760200"/>
            <a:ext cx="499229" cy="499229"/>
          </a:xfrm>
          <a:prstGeom prst="rect">
            <a:avLst/>
          </a:prstGeom>
        </p:spPr>
      </p:pic>
      <p:sp>
        <p:nvSpPr>
          <p:cNvPr id="145" name="文本框 144">
            <a:extLst>
              <a:ext uri="{FF2B5EF4-FFF2-40B4-BE49-F238E27FC236}">
                <a16:creationId xmlns:a16="http://schemas.microsoft.com/office/drawing/2014/main" id="{D1DB79B7-9D44-372B-1DC5-A0554B9C54D1}"/>
              </a:ext>
            </a:extLst>
          </p:cNvPr>
          <p:cNvSpPr txBox="1"/>
          <p:nvPr/>
        </p:nvSpPr>
        <p:spPr>
          <a:xfrm>
            <a:off x="2713401" y="3828506"/>
            <a:ext cx="1382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Training</a:t>
            </a:r>
          </a:p>
        </p:txBody>
      </p:sp>
      <p:sp>
        <p:nvSpPr>
          <p:cNvPr id="146" name="圆角矩形 36">
            <a:extLst>
              <a:ext uri="{FF2B5EF4-FFF2-40B4-BE49-F238E27FC236}">
                <a16:creationId xmlns:a16="http://schemas.microsoft.com/office/drawing/2014/main" id="{535FD848-F1E6-B2B0-375B-4DD3235DAE79}"/>
              </a:ext>
            </a:extLst>
          </p:cNvPr>
          <p:cNvSpPr/>
          <p:nvPr/>
        </p:nvSpPr>
        <p:spPr>
          <a:xfrm>
            <a:off x="6196285" y="4216645"/>
            <a:ext cx="5259066" cy="2441406"/>
          </a:xfrm>
          <a:prstGeom prst="roundRect">
            <a:avLst/>
          </a:prstGeom>
          <a:solidFill>
            <a:srgbClr val="FFC6A0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圆角矩形 59">
            <a:extLst>
              <a:ext uri="{FF2B5EF4-FFF2-40B4-BE49-F238E27FC236}">
                <a16:creationId xmlns:a16="http://schemas.microsoft.com/office/drawing/2014/main" id="{1476B677-5D92-616A-0EBC-E20277583836}"/>
              </a:ext>
            </a:extLst>
          </p:cNvPr>
          <p:cNvSpPr/>
          <p:nvPr/>
        </p:nvSpPr>
        <p:spPr>
          <a:xfrm flipV="1">
            <a:off x="1031745" y="4216645"/>
            <a:ext cx="4896886" cy="2441406"/>
          </a:xfrm>
          <a:prstGeom prst="roundRect">
            <a:avLst/>
          </a:prstGeom>
          <a:solidFill>
            <a:srgbClr val="CFC0E6"/>
          </a:solidFill>
          <a:ln>
            <a:noFill/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52E951D-D38D-8E4A-5381-B78E30FF7DBD}"/>
              </a:ext>
            </a:extLst>
          </p:cNvPr>
          <p:cNvSpPr txBox="1"/>
          <p:nvPr/>
        </p:nvSpPr>
        <p:spPr>
          <a:xfrm>
            <a:off x="2088208" y="4282794"/>
            <a:ext cx="2633027" cy="39909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load image &amp; mask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0D773049-43C2-CF70-A8A8-D25671EF33E5}"/>
              </a:ext>
            </a:extLst>
          </p:cNvPr>
          <p:cNvSpPr txBox="1"/>
          <p:nvPr/>
        </p:nvSpPr>
        <p:spPr>
          <a:xfrm>
            <a:off x="1965337" y="4774551"/>
            <a:ext cx="263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check sum(WT) &gt; 0 </a:t>
            </a:r>
            <a:r>
              <a:rPr lang="zh-CN" altLang="en-US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？</a:t>
            </a:r>
            <a:endParaRPr lang="en-US" altLang="zh-CN" b="1" dirty="0">
              <a:solidFill>
                <a:srgbClr val="000000"/>
              </a:solidFill>
              <a:latin typeface="Cascadia Code" panose="020B0609020000020004" charset="0"/>
              <a:ea typeface="Inter"/>
              <a:cs typeface="Cascadia Code" panose="020B060902000002000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C19FCF6B-D723-FE67-85D0-CA219D9563C3}"/>
              </a:ext>
            </a:extLst>
          </p:cNvPr>
          <p:cNvSpPr txBox="1"/>
          <p:nvPr/>
        </p:nvSpPr>
        <p:spPr>
          <a:xfrm>
            <a:off x="1168461" y="5290860"/>
            <a:ext cx="431038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calculate bounding box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&amp; add perturbation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8D515463-FFAC-F795-6281-D7B76CAC6E63}"/>
              </a:ext>
            </a:extLst>
          </p:cNvPr>
          <p:cNvSpPr txBox="1"/>
          <p:nvPr/>
        </p:nvSpPr>
        <p:spPr>
          <a:xfrm>
            <a:off x="1543819" y="6084169"/>
            <a:ext cx="387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predict and calculate Loss</a:t>
            </a:r>
          </a:p>
        </p:txBody>
      </p: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07C11B5A-5D25-0218-384F-9C6F44FBF42A}"/>
              </a:ext>
            </a:extLst>
          </p:cNvPr>
          <p:cNvCxnSpPr>
            <a:cxnSpLocks/>
          </p:cNvCxnSpPr>
          <p:nvPr/>
        </p:nvCxnSpPr>
        <p:spPr>
          <a:xfrm>
            <a:off x="3180250" y="5937191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B0AEBB07-41B7-45AB-F649-2D090FACF0EF}"/>
              </a:ext>
            </a:extLst>
          </p:cNvPr>
          <p:cNvCxnSpPr>
            <a:cxnSpLocks/>
          </p:cNvCxnSpPr>
          <p:nvPr/>
        </p:nvCxnSpPr>
        <p:spPr>
          <a:xfrm>
            <a:off x="3180250" y="4659232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8AA6C6CA-0BD3-92D8-A2B6-3908B702AA8A}"/>
              </a:ext>
            </a:extLst>
          </p:cNvPr>
          <p:cNvCxnSpPr>
            <a:cxnSpLocks/>
          </p:cNvCxnSpPr>
          <p:nvPr/>
        </p:nvCxnSpPr>
        <p:spPr>
          <a:xfrm>
            <a:off x="3180250" y="5143883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4" name="图片 163" descr="加载">
            <a:extLst>
              <a:ext uri="{FF2B5EF4-FFF2-40B4-BE49-F238E27FC236}">
                <a16:creationId xmlns:a16="http://schemas.microsoft.com/office/drawing/2014/main" id="{5BE9F8FB-37DA-88F4-6849-464A9306F6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4585" y="4272281"/>
            <a:ext cx="440690" cy="440690"/>
          </a:xfrm>
          <a:prstGeom prst="rect">
            <a:avLst/>
          </a:prstGeom>
        </p:spPr>
      </p:pic>
      <p:pic>
        <p:nvPicPr>
          <p:cNvPr id="166" name="图片 165" descr="噪声">
            <a:extLst>
              <a:ext uri="{FF2B5EF4-FFF2-40B4-BE49-F238E27FC236}">
                <a16:creationId xmlns:a16="http://schemas.microsoft.com/office/drawing/2014/main" id="{220A9231-FF51-0E4C-DA9F-E628E40CCB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6928" y="5461912"/>
            <a:ext cx="475279" cy="475279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83A923D5-32FB-9A48-11C2-ABD9A7202C09}"/>
              </a:ext>
            </a:extLst>
          </p:cNvPr>
          <p:cNvSpPr txBox="1"/>
          <p:nvPr/>
        </p:nvSpPr>
        <p:spPr>
          <a:xfrm>
            <a:off x="7146633" y="3827002"/>
            <a:ext cx="3521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Inference &amp; Evaluation</a:t>
            </a:r>
          </a:p>
        </p:txBody>
      </p:sp>
      <p:pic>
        <p:nvPicPr>
          <p:cNvPr id="168" name="图片 167" descr="肿瘤科">
            <a:extLst>
              <a:ext uri="{FF2B5EF4-FFF2-40B4-BE49-F238E27FC236}">
                <a16:creationId xmlns:a16="http://schemas.microsoft.com/office/drawing/2014/main" id="{5FF43601-9815-F8A1-94F3-E441104EC7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8617" y="4185821"/>
            <a:ext cx="773430" cy="773430"/>
          </a:xfrm>
          <a:prstGeom prst="rect">
            <a:avLst/>
          </a:prstGeom>
        </p:spPr>
      </p:pic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FEF21DD0-7A68-BE95-CC7C-8535F5715AEB}"/>
              </a:ext>
            </a:extLst>
          </p:cNvPr>
          <p:cNvGrpSpPr/>
          <p:nvPr/>
        </p:nvGrpSpPr>
        <p:grpSpPr>
          <a:xfrm>
            <a:off x="6630623" y="4346227"/>
            <a:ext cx="4361815" cy="1310005"/>
            <a:chOff x="5914" y="8168"/>
            <a:chExt cx="6869" cy="2063"/>
          </a:xfrm>
        </p:grpSpPr>
        <p:sp>
          <p:nvSpPr>
            <p:cNvPr id="170" name="圆角矩形 64">
              <a:extLst>
                <a:ext uri="{FF2B5EF4-FFF2-40B4-BE49-F238E27FC236}">
                  <a16:creationId xmlns:a16="http://schemas.microsoft.com/office/drawing/2014/main" id="{87E4C1CC-FCF2-8971-A107-2CEB2032D23F}"/>
                </a:ext>
              </a:extLst>
            </p:cNvPr>
            <p:cNvSpPr/>
            <p:nvPr/>
          </p:nvSpPr>
          <p:spPr>
            <a:xfrm>
              <a:off x="6058" y="9409"/>
              <a:ext cx="2124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圆角矩形 66">
              <a:extLst>
                <a:ext uri="{FF2B5EF4-FFF2-40B4-BE49-F238E27FC236}">
                  <a16:creationId xmlns:a16="http://schemas.microsoft.com/office/drawing/2014/main" id="{ED07A74B-A2A0-5F9A-893F-66C02B8401FD}"/>
                </a:ext>
              </a:extLst>
            </p:cNvPr>
            <p:cNvSpPr/>
            <p:nvPr/>
          </p:nvSpPr>
          <p:spPr>
            <a:xfrm>
              <a:off x="8341" y="9409"/>
              <a:ext cx="2119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圆角矩形 68">
              <a:extLst>
                <a:ext uri="{FF2B5EF4-FFF2-40B4-BE49-F238E27FC236}">
                  <a16:creationId xmlns:a16="http://schemas.microsoft.com/office/drawing/2014/main" id="{BD553E8E-5121-106E-8B65-5F97F88A1AEC}"/>
                </a:ext>
              </a:extLst>
            </p:cNvPr>
            <p:cNvSpPr/>
            <p:nvPr/>
          </p:nvSpPr>
          <p:spPr>
            <a:xfrm>
              <a:off x="10606" y="9409"/>
              <a:ext cx="2061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EF6C49A2-FCBD-0DE2-612F-666613DF8584}"/>
                </a:ext>
              </a:extLst>
            </p:cNvPr>
            <p:cNvGrpSpPr/>
            <p:nvPr/>
          </p:nvGrpSpPr>
          <p:grpSpPr>
            <a:xfrm>
              <a:off x="5914" y="8168"/>
              <a:ext cx="6869" cy="2063"/>
              <a:chOff x="6588" y="8202"/>
              <a:chExt cx="6869" cy="2063"/>
            </a:xfrm>
          </p:grpSpPr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9BC5A280-7A59-83C8-71C4-1A9DEB25DD86}"/>
                  </a:ext>
                </a:extLst>
              </p:cNvPr>
              <p:cNvSpPr txBox="1"/>
              <p:nvPr/>
            </p:nvSpPr>
            <p:spPr>
              <a:xfrm>
                <a:off x="8733" y="8202"/>
                <a:ext cx="2350" cy="58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inference</a:t>
                </a:r>
              </a:p>
            </p:txBody>
          </p: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8CC4B05B-340F-9756-CAEC-DE5051574A46}"/>
                  </a:ext>
                </a:extLst>
              </p:cNvPr>
              <p:cNvCxnSpPr/>
              <p:nvPr/>
            </p:nvCxnSpPr>
            <p:spPr>
              <a:xfrm>
                <a:off x="10370" y="8775"/>
                <a:ext cx="910" cy="526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A6FB1104-C604-945A-B4F8-4FA4187D9AD8}"/>
                  </a:ext>
                </a:extLst>
              </p:cNvPr>
              <p:cNvCxnSpPr/>
              <p:nvPr/>
            </p:nvCxnSpPr>
            <p:spPr>
              <a:xfrm flipH="1">
                <a:off x="8366" y="8764"/>
                <a:ext cx="865" cy="577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02CFBF71-0B5B-AC41-DB32-863E28614ADB}"/>
                  </a:ext>
                </a:extLst>
              </p:cNvPr>
              <p:cNvCxnSpPr/>
              <p:nvPr/>
            </p:nvCxnSpPr>
            <p:spPr>
              <a:xfrm>
                <a:off x="9780" y="8775"/>
                <a:ext cx="11" cy="523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938E11EC-0639-66D5-67C6-C6963E0A4D4D}"/>
                  </a:ext>
                </a:extLst>
              </p:cNvPr>
              <p:cNvSpPr txBox="1"/>
              <p:nvPr/>
            </p:nvSpPr>
            <p:spPr>
              <a:xfrm>
                <a:off x="6588" y="9443"/>
                <a:ext cx="2427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</a:rPr>
                  <a:t>WT Segmentation</a:t>
                </a: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CD851828-0487-5078-D334-8AA9D83D0BC4}"/>
                  </a:ext>
                </a:extLst>
              </p:cNvPr>
              <p:cNvSpPr txBox="1"/>
              <p:nvPr/>
            </p:nvSpPr>
            <p:spPr>
              <a:xfrm>
                <a:off x="8856" y="9409"/>
                <a:ext cx="2378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TC Segmentation</a:t>
                </a: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043A536C-E6D8-8B42-DCBA-8A8B26218A9C}"/>
                  </a:ext>
                </a:extLst>
              </p:cNvPr>
              <p:cNvSpPr txBox="1"/>
              <p:nvPr/>
            </p:nvSpPr>
            <p:spPr>
              <a:xfrm>
                <a:off x="11134" y="9409"/>
                <a:ext cx="2323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ET Segmentation</a:t>
                </a:r>
              </a:p>
            </p:txBody>
          </p:sp>
        </p:grpSp>
      </p:grp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9B7AD2C-C2FC-5D86-3705-D7FC21D2B173}"/>
              </a:ext>
            </a:extLst>
          </p:cNvPr>
          <p:cNvSpPr txBox="1"/>
          <p:nvPr/>
        </p:nvSpPr>
        <p:spPr>
          <a:xfrm>
            <a:off x="7932563" y="5788063"/>
            <a:ext cx="164827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Evaluation</a:t>
            </a:r>
          </a:p>
        </p:txBody>
      </p:sp>
      <p:sp>
        <p:nvSpPr>
          <p:cNvPr id="184" name="圆角矩形 42">
            <a:extLst>
              <a:ext uri="{FF2B5EF4-FFF2-40B4-BE49-F238E27FC236}">
                <a16:creationId xmlns:a16="http://schemas.microsoft.com/office/drawing/2014/main" id="{1988BFEB-7797-C544-5D43-F167F74ED72D}"/>
              </a:ext>
            </a:extLst>
          </p:cNvPr>
          <p:cNvSpPr/>
          <p:nvPr/>
        </p:nvSpPr>
        <p:spPr>
          <a:xfrm>
            <a:off x="8088138" y="6249608"/>
            <a:ext cx="1181100" cy="316230"/>
          </a:xfrm>
          <a:prstGeom prst="roundRect">
            <a:avLst/>
          </a:prstGeom>
          <a:solidFill>
            <a:srgbClr val="2C2C2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48633FF-BE5F-7513-1613-60619E03B419}"/>
              </a:ext>
            </a:extLst>
          </p:cNvPr>
          <p:cNvSpPr txBox="1"/>
          <p:nvPr/>
        </p:nvSpPr>
        <p:spPr>
          <a:xfrm>
            <a:off x="8101378" y="6228653"/>
            <a:ext cx="131064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Dice Score</a:t>
            </a:r>
            <a:r>
              <a:rPr lang="en-US" altLang="zh-CN" sz="1600" dirty="0"/>
              <a:t> 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77E0B0B7-B16E-8FDA-6DC8-388AFA9DB40E}"/>
              </a:ext>
            </a:extLst>
          </p:cNvPr>
          <p:cNvSpPr/>
          <p:nvPr/>
        </p:nvSpPr>
        <p:spPr>
          <a:xfrm>
            <a:off x="-441489" y="-299301"/>
            <a:ext cx="13074977" cy="7456602"/>
          </a:xfrm>
          <a:custGeom>
            <a:avLst/>
            <a:gdLst>
              <a:gd name="connsiteX0" fmla="*/ 1340987 w 13074977"/>
              <a:gd name="connsiteY0" fmla="*/ 497715 h 7456602"/>
              <a:gd name="connsiteX1" fmla="*/ 1340987 w 13074977"/>
              <a:gd name="connsiteY1" fmla="*/ 4126302 h 7456602"/>
              <a:gd name="connsiteX2" fmla="*/ 6024563 w 13074977"/>
              <a:gd name="connsiteY2" fmla="*/ 4126302 h 7456602"/>
              <a:gd name="connsiteX3" fmla="*/ 6024563 w 13074977"/>
              <a:gd name="connsiteY3" fmla="*/ 497715 h 7456602"/>
              <a:gd name="connsiteX4" fmla="*/ 0 w 13074977"/>
              <a:gd name="connsiteY4" fmla="*/ 0 h 7456602"/>
              <a:gd name="connsiteX5" fmla="*/ 13074977 w 13074977"/>
              <a:gd name="connsiteY5" fmla="*/ 0 h 7456602"/>
              <a:gd name="connsiteX6" fmla="*/ 13074977 w 13074977"/>
              <a:gd name="connsiteY6" fmla="*/ 7456602 h 7456602"/>
              <a:gd name="connsiteX7" fmla="*/ 0 w 13074977"/>
              <a:gd name="connsiteY7" fmla="*/ 7456602 h 745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74977" h="7456602">
                <a:moveTo>
                  <a:pt x="1340987" y="497715"/>
                </a:moveTo>
                <a:lnTo>
                  <a:pt x="1340987" y="4126302"/>
                </a:lnTo>
                <a:lnTo>
                  <a:pt x="6024563" y="4126302"/>
                </a:lnTo>
                <a:lnTo>
                  <a:pt x="6024563" y="497715"/>
                </a:lnTo>
                <a:close/>
                <a:moveTo>
                  <a:pt x="0" y="0"/>
                </a:moveTo>
                <a:lnTo>
                  <a:pt x="13074977" y="0"/>
                </a:lnTo>
                <a:lnTo>
                  <a:pt x="13074977" y="7456602"/>
                </a:lnTo>
                <a:lnTo>
                  <a:pt x="0" y="7456602"/>
                </a:lnTo>
                <a:close/>
              </a:path>
            </a:pathLst>
          </a:custGeom>
          <a:solidFill>
            <a:srgbClr val="6B6B6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86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5600" y="26955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>
                <a:latin typeface="Cascadia Code" panose="020B0609020000020004" charset="0"/>
                <a:ea typeface="+mj-ea"/>
                <a:cs typeface="Cascadia Code" panose="020B0609020000020004" charset="0"/>
              </a:rPr>
              <a:t>2. Data Preprocessing</a:t>
            </a:r>
          </a:p>
        </p:txBody>
      </p:sp>
      <p:pic>
        <p:nvPicPr>
          <p:cNvPr id="3" name="图片 2" descr="slice_077_flai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95" y="3742055"/>
            <a:ext cx="2194560" cy="2194560"/>
          </a:xfrm>
          <a:prstGeom prst="rect">
            <a:avLst/>
          </a:prstGeom>
        </p:spPr>
      </p:pic>
      <p:pic>
        <p:nvPicPr>
          <p:cNvPr id="5" name="图片 4" descr="slice_077_t1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790" y="3733165"/>
            <a:ext cx="2194560" cy="2194560"/>
          </a:xfrm>
          <a:prstGeom prst="rect">
            <a:avLst/>
          </a:prstGeom>
        </p:spPr>
      </p:pic>
      <p:pic>
        <p:nvPicPr>
          <p:cNvPr id="7" name="图片 6" descr="slice_077_t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785" y="3728720"/>
            <a:ext cx="2194560" cy="21945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13840" y="3413125"/>
            <a:ext cx="9658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FLAIR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93870" y="3391535"/>
            <a:ext cx="686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T1ce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037705" y="3399790"/>
            <a:ext cx="4260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T2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3620" y="1022350"/>
            <a:ext cx="10232390" cy="1845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buClrTx/>
              <a:buSzTx/>
              <a:buFontTx/>
            </a:pPr>
            <a:r>
              <a:rPr lang="en-US" altLang="zh-CN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2.1 Image Construction</a:t>
            </a:r>
            <a:r>
              <a:rPr lang="zh-CN" altLang="en-US" sz="16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：</a:t>
            </a:r>
            <a:endParaRPr lang="en-US" altLang="zh-CN" sz="1600" dirty="0">
              <a:latin typeface="Cascadia Code" panose="020B0609020000020004" charset="0"/>
              <a:ea typeface="+mj-ea"/>
              <a:cs typeface="Cascadia Code" panose="020B060902000002000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altLang="zh-CN" sz="16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SAM requires 3-channel input, while the </a:t>
            </a:r>
            <a:r>
              <a:rPr lang="en-US" altLang="zh-CN" sz="1600" dirty="0" err="1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BraTS</a:t>
            </a:r>
            <a:r>
              <a:rPr lang="en-US" altLang="zh-CN" sz="16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 dataset consists of 4 modalities. </a:t>
            </a:r>
          </a:p>
          <a:p>
            <a:pPr algn="just">
              <a:buClrTx/>
              <a:buSzTx/>
              <a:buFontTx/>
            </a:pPr>
            <a:r>
              <a:rPr lang="en-US" altLang="zh-CN" sz="16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We select the three modalities most sensitive to tumor features for fusion:</a:t>
            </a:r>
          </a:p>
          <a:p>
            <a:pPr algn="just">
              <a:buClrTx/>
              <a:buSzTx/>
              <a:buFontTx/>
            </a:pPr>
            <a:endParaRPr lang="en-US" altLang="zh-CN" sz="1600" dirty="0">
              <a:latin typeface="Cascadia Code" panose="020B0609020000020004" charset="0"/>
              <a:ea typeface="+mj-ea"/>
              <a:cs typeface="Cascadia Code" panose="020B0609020000020004" charset="0"/>
              <a:sym typeface="+mn-ea"/>
            </a:endParaRPr>
          </a:p>
          <a:p>
            <a:pPr marL="285750" indent="-285750" algn="just">
              <a:buClrTx/>
              <a:buSzTx/>
              <a:buFont typeface="Wingdings" panose="05000000000000000000" charset="0"/>
              <a:buChar char="Ø"/>
            </a:pPr>
            <a:r>
              <a:rPr lang="en-US" altLang="zh-CN" sz="16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Channel R: FLAIR (provides the clearest reflection of edema)</a:t>
            </a:r>
          </a:p>
          <a:p>
            <a:pPr marL="285750" indent="-285750" algn="just">
              <a:buClrTx/>
              <a:buSzTx/>
              <a:buFont typeface="Wingdings" panose="05000000000000000000" charset="0"/>
              <a:buChar char="Ø"/>
            </a:pPr>
            <a:r>
              <a:rPr lang="en-US" altLang="zh-CN" sz="16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Channel G: T1ce (provides the clearest reflection of enhancing tumors)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1600" dirty="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Channel B: T2 (reflects the overall tissue structure)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034145" y="3395980"/>
            <a:ext cx="16878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construction</a:t>
            </a:r>
          </a:p>
        </p:txBody>
      </p:sp>
      <p:pic>
        <p:nvPicPr>
          <p:cNvPr id="2" name="图片 1" descr="image_07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0780" y="3728085"/>
            <a:ext cx="2195195" cy="2195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7445" y="953770"/>
            <a:ext cx="9694545" cy="1599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Cascadia Code" panose="020B0609020000020004" charset="0"/>
                <a:ea typeface="+mj-ea"/>
                <a:cs typeface="Cascadia Code" panose="020B0609020000020004" charset="0"/>
              </a:rPr>
              <a:t>2.2 Mask Generation</a:t>
            </a:r>
            <a:r>
              <a:rPr lang="zh-CN" altLang="en-US">
                <a:latin typeface="Cascadia Code" panose="020B0609020000020004" charset="0"/>
                <a:ea typeface="+mj-ea"/>
                <a:cs typeface="Cascadia Code" panose="020B0609020000020004" charset="0"/>
              </a:rPr>
              <a:t>：</a:t>
            </a:r>
          </a:p>
          <a:p>
            <a:pPr indent="0" algn="just"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Convert the multi-class labels of BraTS into three independent Binary Masks:</a:t>
            </a:r>
          </a:p>
          <a:p>
            <a:pPr indent="0" algn="just">
              <a:buClrTx/>
              <a:buSzTx/>
              <a:buFont typeface="Arial" panose="020B0604020202020204" pitchFamily="34" charset="0"/>
              <a:buNone/>
            </a:pPr>
            <a:endParaRPr lang="en-US" altLang="zh-CN" sz="1600">
              <a:latin typeface="Cascadia Code" panose="020B0609020000020004" charset="0"/>
              <a:ea typeface="+mj-ea"/>
              <a:cs typeface="Cascadia Code" panose="020B0609020000020004" charset="0"/>
            </a:endParaRPr>
          </a:p>
          <a:p>
            <a:pPr marL="285750" indent="-285750" algn="just">
              <a:buClrTx/>
              <a:buSzTx/>
              <a:buFont typeface="Wingdings" panose="05000000000000000000" charset="0"/>
              <a:buChar char="Ø"/>
            </a:pPr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WT (Whole Tumor)</a:t>
            </a:r>
          </a:p>
          <a:p>
            <a:pPr marL="285750" indent="-285750" algn="just">
              <a:buClrTx/>
              <a:buSzTx/>
              <a:buFont typeface="Wingdings" panose="05000000000000000000" charset="0"/>
              <a:buChar char="Ø"/>
            </a:pPr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TC (Tumor Core)</a:t>
            </a:r>
          </a:p>
          <a:p>
            <a:pPr marL="285750" indent="-285750" algn="just">
              <a:buClrTx/>
              <a:buSzTx/>
              <a:buFont typeface="Wingdings" panose="05000000000000000000" charset="0"/>
              <a:buChar char="Ø"/>
            </a:pPr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ET (Enhancing Tumor)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60450" y="3074035"/>
            <a:ext cx="1718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ascadia Code" panose="020B0609020000020004" charset="0"/>
                <a:cs typeface="Cascadia Code" panose="020B0609020000020004" charset="0"/>
              </a:rPr>
              <a:t>origin mask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43630" y="3074035"/>
            <a:ext cx="217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Whole Tumor(</a:t>
            </a:r>
            <a:r>
              <a:rPr lang="en-US" altLang="zh-CN">
                <a:latin typeface="Cascadia Code" panose="020B0609020000020004" charset="0"/>
                <a:cs typeface="Cascadia Code" panose="020B0609020000020004" charset="0"/>
              </a:rPr>
              <a:t>WT)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983345" y="3060700"/>
            <a:ext cx="2682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Enhancing Tumor</a:t>
            </a:r>
            <a:r>
              <a:rPr lang="en-US" altLang="zh-CN">
                <a:latin typeface="Cascadia Code" panose="020B0609020000020004" charset="0"/>
                <a:cs typeface="Cascadia Code" panose="020B0609020000020004" charset="0"/>
                <a:sym typeface="+mn-ea"/>
              </a:rPr>
              <a:t>(ET)</a:t>
            </a:r>
            <a:endParaRPr lang="zh-CN" altLang="en-US"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83350" y="3060700"/>
            <a:ext cx="20358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Tumor Core</a:t>
            </a:r>
            <a:r>
              <a:rPr lang="en-US" altLang="zh-CN">
                <a:latin typeface="Cascadia Code" panose="020B0609020000020004" charset="0"/>
                <a:cs typeface="Cascadia Code" panose="020B0609020000020004" charset="0"/>
                <a:sym typeface="+mn-ea"/>
              </a:rPr>
              <a:t>(TC)</a:t>
            </a:r>
          </a:p>
        </p:txBody>
      </p:sp>
      <p:pic>
        <p:nvPicPr>
          <p:cNvPr id="16" name="图片 15" descr="slice_0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0" y="3442335"/>
            <a:ext cx="2255520" cy="2255520"/>
          </a:xfrm>
          <a:prstGeom prst="rect">
            <a:avLst/>
          </a:prstGeom>
        </p:spPr>
      </p:pic>
      <p:pic>
        <p:nvPicPr>
          <p:cNvPr id="17" name="图片 16" descr="mask_et_0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915" y="3429000"/>
            <a:ext cx="2286000" cy="2286000"/>
          </a:xfrm>
          <a:prstGeom prst="rect">
            <a:avLst/>
          </a:prstGeom>
        </p:spPr>
      </p:pic>
      <p:pic>
        <p:nvPicPr>
          <p:cNvPr id="18" name="图片 17" descr="mask_tc_0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785" y="3442335"/>
            <a:ext cx="2286000" cy="2286000"/>
          </a:xfrm>
          <a:prstGeom prst="rect">
            <a:avLst/>
          </a:prstGeom>
        </p:spPr>
      </p:pic>
      <p:pic>
        <p:nvPicPr>
          <p:cNvPr id="19" name="图片 18" descr="mask_wt_06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9655" y="3442335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3">
            <a:extLst>
              <a:ext uri="{FF2B5EF4-FFF2-40B4-BE49-F238E27FC236}">
                <a16:creationId xmlns:a16="http://schemas.microsoft.com/office/drawing/2014/main" id="{2C98762E-BE92-42D9-8566-4D9458AF17E7}"/>
              </a:ext>
            </a:extLst>
          </p:cNvPr>
          <p:cNvSpPr/>
          <p:nvPr/>
        </p:nvSpPr>
        <p:spPr>
          <a:xfrm>
            <a:off x="1031745" y="635617"/>
            <a:ext cx="4411980" cy="31661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8C1AA7-989A-252A-32A3-DF9C8602EB6B}"/>
              </a:ext>
            </a:extLst>
          </p:cNvPr>
          <p:cNvSpPr txBox="1"/>
          <p:nvPr/>
        </p:nvSpPr>
        <p:spPr>
          <a:xfrm>
            <a:off x="1678022" y="198415"/>
            <a:ext cx="3119425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D</a:t>
            </a: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ata </a:t>
            </a:r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</a:t>
            </a: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reprocessing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05E3A1-719F-B9DA-B22A-DDB6EDFB1735}"/>
              </a:ext>
            </a:extLst>
          </p:cNvPr>
          <p:cNvSpPr txBox="1"/>
          <p:nvPr/>
        </p:nvSpPr>
        <p:spPr>
          <a:xfrm>
            <a:off x="1192723" y="784972"/>
            <a:ext cx="2373630" cy="3168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Construction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A12655E-8752-98F9-031E-16148C28EDFA}"/>
              </a:ext>
            </a:extLst>
          </p:cNvPr>
          <p:cNvGrpSpPr/>
          <p:nvPr/>
        </p:nvGrpSpPr>
        <p:grpSpPr>
          <a:xfrm>
            <a:off x="432213" y="1528726"/>
            <a:ext cx="2360930" cy="2157730"/>
            <a:chOff x="12253" y="3010"/>
            <a:chExt cx="3810" cy="3810"/>
          </a:xfrm>
        </p:grpSpPr>
        <p:pic>
          <p:nvPicPr>
            <p:cNvPr id="83" name="图片 82" descr="3个点">
              <a:extLst>
                <a:ext uri="{FF2B5EF4-FFF2-40B4-BE49-F238E27FC236}">
                  <a16:creationId xmlns:a16="http://schemas.microsoft.com/office/drawing/2014/main" id="{84F10D3A-7630-EEAC-F711-59FDACDFB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53" y="3010"/>
              <a:ext cx="3810" cy="3810"/>
            </a:xfrm>
            <a:prstGeom prst="rect">
              <a:avLst/>
            </a:prstGeom>
          </p:spPr>
        </p:pic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D7F67792-A10C-4E53-706A-1ED2925563DC}"/>
                </a:ext>
              </a:extLst>
            </p:cNvPr>
            <p:cNvSpPr txBox="1"/>
            <p:nvPr/>
          </p:nvSpPr>
          <p:spPr>
            <a:xfrm>
              <a:off x="13554" y="4659"/>
              <a:ext cx="1289" cy="52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sz="1600" b="1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FLAIR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36AA499F-A485-CB8B-433E-79710DC10D92}"/>
                </a:ext>
              </a:extLst>
            </p:cNvPr>
            <p:cNvSpPr txBox="1"/>
            <p:nvPr/>
          </p:nvSpPr>
          <p:spPr>
            <a:xfrm>
              <a:off x="13640" y="3310"/>
              <a:ext cx="1134" cy="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T1ce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6FDB143-06B8-21BA-AF93-5933D0DC02C6}"/>
                </a:ext>
              </a:extLst>
            </p:cNvPr>
            <p:cNvSpPr txBox="1"/>
            <p:nvPr/>
          </p:nvSpPr>
          <p:spPr>
            <a:xfrm>
              <a:off x="13839" y="5900"/>
              <a:ext cx="841" cy="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T2</a:t>
              </a:r>
            </a:p>
          </p:txBody>
        </p: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AF23BD75-EB65-4A57-3AA2-A3FFB8262442}"/>
              </a:ext>
            </a:extLst>
          </p:cNvPr>
          <p:cNvSpPr txBox="1"/>
          <p:nvPr/>
        </p:nvSpPr>
        <p:spPr>
          <a:xfrm>
            <a:off x="3237734" y="784972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Generation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21B0F6D2-F83D-530A-5726-EE9FAD81412C}"/>
              </a:ext>
            </a:extLst>
          </p:cNvPr>
          <p:cNvGrpSpPr/>
          <p:nvPr/>
        </p:nvGrpSpPr>
        <p:grpSpPr>
          <a:xfrm>
            <a:off x="3539677" y="1479150"/>
            <a:ext cx="2211705" cy="1905000"/>
            <a:chOff x="5998" y="3045"/>
            <a:chExt cx="3483" cy="3000"/>
          </a:xfrm>
        </p:grpSpPr>
        <p:pic>
          <p:nvPicPr>
            <p:cNvPr id="89" name="图片 88" descr="一行三列">
              <a:extLst>
                <a:ext uri="{FF2B5EF4-FFF2-40B4-BE49-F238E27FC236}">
                  <a16:creationId xmlns:a16="http://schemas.microsoft.com/office/drawing/2014/main" id="{72A6B780-C9BE-B177-856C-004784086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8" y="3045"/>
              <a:ext cx="3000" cy="3000"/>
            </a:xfrm>
            <a:prstGeom prst="rect">
              <a:avLst/>
            </a:prstGeom>
          </p:spPr>
        </p:pic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DD2A2010-00D0-E95E-F84B-9D9195C68382}"/>
                </a:ext>
              </a:extLst>
            </p:cNvPr>
            <p:cNvSpPr txBox="1"/>
            <p:nvPr/>
          </p:nvSpPr>
          <p:spPr>
            <a:xfrm>
              <a:off x="6195" y="3982"/>
              <a:ext cx="10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WT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9F2E560-E090-89AD-41F2-F0A6D92DCFBF}"/>
                </a:ext>
              </a:extLst>
            </p:cNvPr>
            <p:cNvSpPr txBox="1"/>
            <p:nvPr/>
          </p:nvSpPr>
          <p:spPr>
            <a:xfrm>
              <a:off x="7170" y="3982"/>
              <a:ext cx="8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TC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04342F37-4C61-C038-EBE6-A077B6C98946}"/>
                </a:ext>
              </a:extLst>
            </p:cNvPr>
            <p:cNvSpPr txBox="1"/>
            <p:nvPr/>
          </p:nvSpPr>
          <p:spPr>
            <a:xfrm>
              <a:off x="8093" y="3982"/>
              <a:ext cx="13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ET</a:t>
              </a:r>
            </a:p>
          </p:txBody>
        </p:sp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5C5ADBE7-F02E-37B9-A708-9FDB4B898552}"/>
              </a:ext>
            </a:extLst>
          </p:cNvPr>
          <p:cNvCxnSpPr/>
          <p:nvPr/>
        </p:nvCxnSpPr>
        <p:spPr>
          <a:xfrm flipV="1">
            <a:off x="2066795" y="2518392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64E8BD7-DCDE-78D8-0BF0-55DA28C397AD}"/>
              </a:ext>
            </a:extLst>
          </p:cNvPr>
          <p:cNvSpPr txBox="1"/>
          <p:nvPr/>
        </p:nvSpPr>
        <p:spPr>
          <a:xfrm>
            <a:off x="1937890" y="2139297"/>
            <a:ext cx="833755" cy="360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i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fusion</a:t>
            </a:r>
          </a:p>
        </p:txBody>
      </p:sp>
      <p:pic>
        <p:nvPicPr>
          <p:cNvPr id="96" name="图片 95" descr="filter_svg">
            <a:extLst>
              <a:ext uri="{FF2B5EF4-FFF2-40B4-BE49-F238E27FC236}">
                <a16:creationId xmlns:a16="http://schemas.microsoft.com/office/drawing/2014/main" id="{0B92E4C8-0894-9408-13EC-3787E75BC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055" y="2171682"/>
            <a:ext cx="589280" cy="589280"/>
          </a:xfrm>
          <a:prstGeom prst="rect">
            <a:avLst/>
          </a:prstGeom>
        </p:spPr>
      </p:pic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8F3FAE1-E075-20A5-159A-2AA284F5AA33}"/>
              </a:ext>
            </a:extLst>
          </p:cNvPr>
          <p:cNvCxnSpPr/>
          <p:nvPr/>
        </p:nvCxnSpPr>
        <p:spPr>
          <a:xfrm>
            <a:off x="3462207" y="943404"/>
            <a:ext cx="0" cy="2601798"/>
          </a:xfrm>
          <a:prstGeom prst="line">
            <a:avLst/>
          </a:prstGeom>
          <a:ln w="444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68E140E0-2E6E-3BCA-072B-B7D7F35298F0}"/>
              </a:ext>
            </a:extLst>
          </p:cNvPr>
          <p:cNvSpPr txBox="1"/>
          <p:nvPr/>
        </p:nvSpPr>
        <p:spPr>
          <a:xfrm>
            <a:off x="8199635" y="198415"/>
            <a:ext cx="655955" cy="361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SAM</a:t>
            </a:r>
          </a:p>
        </p:txBody>
      </p:sp>
      <p:sp>
        <p:nvSpPr>
          <p:cNvPr id="100" name="圆角矩形 27">
            <a:extLst>
              <a:ext uri="{FF2B5EF4-FFF2-40B4-BE49-F238E27FC236}">
                <a16:creationId xmlns:a16="http://schemas.microsoft.com/office/drawing/2014/main" id="{4BD8A662-A500-E276-5A34-C16249E17D75}"/>
              </a:ext>
            </a:extLst>
          </p:cNvPr>
          <p:cNvSpPr/>
          <p:nvPr/>
        </p:nvSpPr>
        <p:spPr>
          <a:xfrm>
            <a:off x="5703671" y="658458"/>
            <a:ext cx="5751680" cy="3063818"/>
          </a:xfrm>
          <a:prstGeom prst="roundRect">
            <a:avLst/>
          </a:prstGeom>
          <a:solidFill>
            <a:srgbClr val="CCE2F7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F5CB352-A3A7-8973-0386-5B6D6322BED7}"/>
              </a:ext>
            </a:extLst>
          </p:cNvPr>
          <p:cNvSpPr/>
          <p:nvPr/>
        </p:nvSpPr>
        <p:spPr>
          <a:xfrm>
            <a:off x="5774330" y="1818673"/>
            <a:ext cx="1467485" cy="707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1AEAC8A-F605-2E4B-373F-749D440BD4D7}"/>
              </a:ext>
            </a:extLst>
          </p:cNvPr>
          <p:cNvSpPr txBox="1"/>
          <p:nvPr/>
        </p:nvSpPr>
        <p:spPr>
          <a:xfrm>
            <a:off x="5313002" y="1849075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Encoder</a:t>
            </a: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548BFDF-3591-EDCF-AB05-0B9218FCBD09}"/>
              </a:ext>
            </a:extLst>
          </p:cNvPr>
          <p:cNvGrpSpPr/>
          <p:nvPr/>
        </p:nvGrpSpPr>
        <p:grpSpPr>
          <a:xfrm>
            <a:off x="7733772" y="1376546"/>
            <a:ext cx="265955" cy="1849584"/>
            <a:chOff x="3986782" y="4558167"/>
            <a:chExt cx="265955" cy="1849584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BE88E06-9BBB-6F0B-E184-943595DB921B}"/>
                </a:ext>
              </a:extLst>
            </p:cNvPr>
            <p:cNvSpPr/>
            <p:nvPr/>
          </p:nvSpPr>
          <p:spPr>
            <a:xfrm>
              <a:off x="3986782" y="494995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BC7D1B8-6A42-F567-1425-E403EADEA02D}"/>
                </a:ext>
              </a:extLst>
            </p:cNvPr>
            <p:cNvSpPr/>
            <p:nvPr/>
          </p:nvSpPr>
          <p:spPr>
            <a:xfrm>
              <a:off x="3986782" y="5343823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0C42DC0C-9954-AD64-16D4-F6603ECD023E}"/>
                </a:ext>
              </a:extLst>
            </p:cNvPr>
            <p:cNvSpPr/>
            <p:nvPr/>
          </p:nvSpPr>
          <p:spPr>
            <a:xfrm>
              <a:off x="3986782" y="5737694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43FAD0EE-DB97-76A9-251C-2FAAA27FD5E7}"/>
                </a:ext>
              </a:extLst>
            </p:cNvPr>
            <p:cNvSpPr/>
            <p:nvPr/>
          </p:nvSpPr>
          <p:spPr>
            <a:xfrm>
              <a:off x="3986782" y="613529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4C554F7-FA2E-642C-62B3-60AE57D0BCBF}"/>
                </a:ext>
              </a:extLst>
            </p:cNvPr>
            <p:cNvSpPr/>
            <p:nvPr/>
          </p:nvSpPr>
          <p:spPr>
            <a:xfrm>
              <a:off x="3986782" y="4558167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B1F2476-DDC2-9A2A-47BF-5CB2AF34D1E2}"/>
              </a:ext>
            </a:extLst>
          </p:cNvPr>
          <p:cNvSpPr txBox="1"/>
          <p:nvPr/>
        </p:nvSpPr>
        <p:spPr>
          <a:xfrm>
            <a:off x="6671679" y="667645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Embedding</a:t>
            </a: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5A27374-D15A-C5FE-E233-FE8B77443B0C}"/>
              </a:ext>
            </a:extLst>
          </p:cNvPr>
          <p:cNvCxnSpPr>
            <a:cxnSpLocks/>
          </p:cNvCxnSpPr>
          <p:nvPr/>
        </p:nvCxnSpPr>
        <p:spPr>
          <a:xfrm flipV="1">
            <a:off x="7344698" y="2187827"/>
            <a:ext cx="29251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梯形 113">
            <a:extLst>
              <a:ext uri="{FF2B5EF4-FFF2-40B4-BE49-F238E27FC236}">
                <a16:creationId xmlns:a16="http://schemas.microsoft.com/office/drawing/2014/main" id="{0DF98A93-299B-7258-11E8-D0ABE86725C6}"/>
              </a:ext>
            </a:extLst>
          </p:cNvPr>
          <p:cNvSpPr/>
          <p:nvPr/>
        </p:nvSpPr>
        <p:spPr>
          <a:xfrm>
            <a:off x="8308510" y="2197872"/>
            <a:ext cx="853550" cy="417997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EFBE08C-2D4E-EC11-5E09-0E05EF770E80}"/>
              </a:ext>
            </a:extLst>
          </p:cNvPr>
          <p:cNvSpPr txBox="1"/>
          <p:nvPr/>
        </p:nvSpPr>
        <p:spPr>
          <a:xfrm>
            <a:off x="7550598" y="2231080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conv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095154E-5A1B-58F5-FF60-BF68E9F1EC8A}"/>
              </a:ext>
            </a:extLst>
          </p:cNvPr>
          <p:cNvCxnSpPr>
            <a:cxnSpLocks/>
          </p:cNvCxnSpPr>
          <p:nvPr/>
        </p:nvCxnSpPr>
        <p:spPr>
          <a:xfrm flipV="1">
            <a:off x="8127521" y="1382332"/>
            <a:ext cx="1263142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5755913E-81C7-78F4-8F98-B8E01C45BFF7}"/>
              </a:ext>
            </a:extLst>
          </p:cNvPr>
          <p:cNvSpPr/>
          <p:nvPr/>
        </p:nvSpPr>
        <p:spPr>
          <a:xfrm>
            <a:off x="8538848" y="1188006"/>
            <a:ext cx="368640" cy="368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2D757165-EB69-3778-E056-6118A1FCBE83}"/>
              </a:ext>
            </a:extLst>
          </p:cNvPr>
          <p:cNvCxnSpPr>
            <a:cxnSpLocks/>
          </p:cNvCxnSpPr>
          <p:nvPr/>
        </p:nvCxnSpPr>
        <p:spPr>
          <a:xfrm flipH="1" flipV="1">
            <a:off x="8704462" y="2691780"/>
            <a:ext cx="2647" cy="29343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502320B3-6E02-74E1-8D49-FAD6A65EE473}"/>
              </a:ext>
            </a:extLst>
          </p:cNvPr>
          <p:cNvCxnSpPr>
            <a:cxnSpLocks/>
          </p:cNvCxnSpPr>
          <p:nvPr/>
        </p:nvCxnSpPr>
        <p:spPr>
          <a:xfrm flipV="1">
            <a:off x="8701576" y="167636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FFA711AD-4353-E262-3D62-B6A5E9E8BECE}"/>
              </a:ext>
            </a:extLst>
          </p:cNvPr>
          <p:cNvCxnSpPr>
            <a:cxnSpLocks/>
          </p:cNvCxnSpPr>
          <p:nvPr/>
        </p:nvCxnSpPr>
        <p:spPr>
          <a:xfrm>
            <a:off x="8723168" y="1174377"/>
            <a:ext cx="0" cy="365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4741183-7C42-BE06-A1DC-9D3D321006CF}"/>
              </a:ext>
            </a:extLst>
          </p:cNvPr>
          <p:cNvSpPr txBox="1"/>
          <p:nvPr/>
        </p:nvSpPr>
        <p:spPr>
          <a:xfrm>
            <a:off x="8273220" y="3023449"/>
            <a:ext cx="856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C92C9D8-4CAA-50A5-A37E-E82748B9EF60}"/>
              </a:ext>
            </a:extLst>
          </p:cNvPr>
          <p:cNvSpPr/>
          <p:nvPr/>
        </p:nvSpPr>
        <p:spPr>
          <a:xfrm>
            <a:off x="9473146" y="1150684"/>
            <a:ext cx="1819355" cy="463296"/>
          </a:xfrm>
          <a:prstGeom prst="rect">
            <a:avLst/>
          </a:prstGeom>
          <a:solidFill>
            <a:srgbClr val="EF95D7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807D496-42EB-14E9-2F41-8ACE513E6053}"/>
              </a:ext>
            </a:extLst>
          </p:cNvPr>
          <p:cNvSpPr/>
          <p:nvPr/>
        </p:nvSpPr>
        <p:spPr>
          <a:xfrm>
            <a:off x="9403384" y="2186420"/>
            <a:ext cx="1958878" cy="463296"/>
          </a:xfrm>
          <a:prstGeom prst="rect">
            <a:avLst/>
          </a:prstGeom>
          <a:solidFill>
            <a:srgbClr val="C780E4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8EB18E83-119E-1F0A-3BD1-0C2E567703EF}"/>
              </a:ext>
            </a:extLst>
          </p:cNvPr>
          <p:cNvCxnSpPr>
            <a:cxnSpLocks/>
          </p:cNvCxnSpPr>
          <p:nvPr/>
        </p:nvCxnSpPr>
        <p:spPr>
          <a:xfrm flipV="1">
            <a:off x="9707416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A0BDF5D7-D7AA-C891-142F-1D2828CE53E4}"/>
              </a:ext>
            </a:extLst>
          </p:cNvPr>
          <p:cNvCxnSpPr>
            <a:cxnSpLocks/>
          </p:cNvCxnSpPr>
          <p:nvPr/>
        </p:nvCxnSpPr>
        <p:spPr>
          <a:xfrm flipV="1">
            <a:off x="10382823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EDCD7DF7-E030-F454-051C-C99CEC9095C8}"/>
              </a:ext>
            </a:extLst>
          </p:cNvPr>
          <p:cNvCxnSpPr>
            <a:cxnSpLocks/>
          </p:cNvCxnSpPr>
          <p:nvPr/>
        </p:nvCxnSpPr>
        <p:spPr>
          <a:xfrm flipV="1">
            <a:off x="11048536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B6C41E3F-24AC-0AB5-50CA-036D1361311D}"/>
              </a:ext>
            </a:extLst>
          </p:cNvPr>
          <p:cNvCxnSpPr>
            <a:cxnSpLocks/>
          </p:cNvCxnSpPr>
          <p:nvPr/>
        </p:nvCxnSpPr>
        <p:spPr>
          <a:xfrm flipV="1">
            <a:off x="9731722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7299476D-8406-0049-3860-6BB50798E2C6}"/>
              </a:ext>
            </a:extLst>
          </p:cNvPr>
          <p:cNvCxnSpPr>
            <a:cxnSpLocks/>
          </p:cNvCxnSpPr>
          <p:nvPr/>
        </p:nvCxnSpPr>
        <p:spPr>
          <a:xfrm flipV="1">
            <a:off x="10407129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74A544F8-429A-C219-A613-A584F2D6D69B}"/>
              </a:ext>
            </a:extLst>
          </p:cNvPr>
          <p:cNvCxnSpPr>
            <a:cxnSpLocks/>
          </p:cNvCxnSpPr>
          <p:nvPr/>
        </p:nvCxnSpPr>
        <p:spPr>
          <a:xfrm flipV="1">
            <a:off x="11072842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E45EEBF-1EEE-AE75-7E70-F8D5738A4832}"/>
              </a:ext>
            </a:extLst>
          </p:cNvPr>
          <p:cNvSpPr txBox="1"/>
          <p:nvPr/>
        </p:nvSpPr>
        <p:spPr>
          <a:xfrm>
            <a:off x="9226189" y="1192805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Decoder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A3937B6-3FFE-BA54-8850-6DC7CF6D45D1}"/>
              </a:ext>
            </a:extLst>
          </p:cNvPr>
          <p:cNvSpPr txBox="1"/>
          <p:nvPr/>
        </p:nvSpPr>
        <p:spPr>
          <a:xfrm>
            <a:off x="9226189" y="2239997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Prompt Encoder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ED5BA36-C840-D386-CEBA-DA25EE42865D}"/>
              </a:ext>
            </a:extLst>
          </p:cNvPr>
          <p:cNvSpPr txBox="1"/>
          <p:nvPr/>
        </p:nvSpPr>
        <p:spPr>
          <a:xfrm>
            <a:off x="9162060" y="3077288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points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EF6F931-7BA8-6081-2FE7-8E7AD0FD1208}"/>
              </a:ext>
            </a:extLst>
          </p:cNvPr>
          <p:cNvSpPr txBox="1"/>
          <p:nvPr/>
        </p:nvSpPr>
        <p:spPr>
          <a:xfrm>
            <a:off x="9922979" y="3091201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box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4FC51C76-CEA1-9D4F-7EE3-4BFA18AF8C8F}"/>
              </a:ext>
            </a:extLst>
          </p:cNvPr>
          <p:cNvSpPr txBox="1"/>
          <p:nvPr/>
        </p:nvSpPr>
        <p:spPr>
          <a:xfrm>
            <a:off x="10595143" y="3091201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text</a:t>
            </a:r>
          </a:p>
        </p:txBody>
      </p:sp>
      <p:pic>
        <p:nvPicPr>
          <p:cNvPr id="142" name="图片 141" descr="固定">
            <a:extLst>
              <a:ext uri="{FF2B5EF4-FFF2-40B4-BE49-F238E27FC236}">
                <a16:creationId xmlns:a16="http://schemas.microsoft.com/office/drawing/2014/main" id="{CD5A41ED-359A-899A-57A6-B0C008EC0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216" y="1621048"/>
            <a:ext cx="419742" cy="419742"/>
          </a:xfrm>
          <a:prstGeom prst="rect">
            <a:avLst/>
          </a:prstGeom>
        </p:spPr>
      </p:pic>
      <p:pic>
        <p:nvPicPr>
          <p:cNvPr id="143" name="图片 142" descr="固定">
            <a:extLst>
              <a:ext uri="{FF2B5EF4-FFF2-40B4-BE49-F238E27FC236}">
                <a16:creationId xmlns:a16="http://schemas.microsoft.com/office/drawing/2014/main" id="{BC91B0B5-7E26-8F56-1627-1D778684C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1211" y="1938807"/>
            <a:ext cx="419742" cy="419742"/>
          </a:xfrm>
          <a:prstGeom prst="rect">
            <a:avLst/>
          </a:prstGeom>
        </p:spPr>
      </p:pic>
      <p:pic>
        <p:nvPicPr>
          <p:cNvPr id="144" name="图片 143" descr="不固定">
            <a:extLst>
              <a:ext uri="{FF2B5EF4-FFF2-40B4-BE49-F238E27FC236}">
                <a16:creationId xmlns:a16="http://schemas.microsoft.com/office/drawing/2014/main" id="{3BDBE86D-50F8-C32B-87B9-413A56455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914" y="760200"/>
            <a:ext cx="499229" cy="499229"/>
          </a:xfrm>
          <a:prstGeom prst="rect">
            <a:avLst/>
          </a:prstGeom>
        </p:spPr>
      </p:pic>
      <p:sp>
        <p:nvSpPr>
          <p:cNvPr id="145" name="文本框 144">
            <a:extLst>
              <a:ext uri="{FF2B5EF4-FFF2-40B4-BE49-F238E27FC236}">
                <a16:creationId xmlns:a16="http://schemas.microsoft.com/office/drawing/2014/main" id="{D1DB79B7-9D44-372B-1DC5-A0554B9C54D1}"/>
              </a:ext>
            </a:extLst>
          </p:cNvPr>
          <p:cNvSpPr txBox="1"/>
          <p:nvPr/>
        </p:nvSpPr>
        <p:spPr>
          <a:xfrm>
            <a:off x="2713401" y="3828506"/>
            <a:ext cx="1382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Training</a:t>
            </a:r>
          </a:p>
        </p:txBody>
      </p:sp>
      <p:sp>
        <p:nvSpPr>
          <p:cNvPr id="146" name="圆角矩形 36">
            <a:extLst>
              <a:ext uri="{FF2B5EF4-FFF2-40B4-BE49-F238E27FC236}">
                <a16:creationId xmlns:a16="http://schemas.microsoft.com/office/drawing/2014/main" id="{535FD848-F1E6-B2B0-375B-4DD3235DAE79}"/>
              </a:ext>
            </a:extLst>
          </p:cNvPr>
          <p:cNvSpPr/>
          <p:nvPr/>
        </p:nvSpPr>
        <p:spPr>
          <a:xfrm>
            <a:off x="6196285" y="4216645"/>
            <a:ext cx="5259066" cy="2441406"/>
          </a:xfrm>
          <a:prstGeom prst="roundRect">
            <a:avLst/>
          </a:prstGeom>
          <a:solidFill>
            <a:srgbClr val="FFC6A0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圆角矩形 59">
            <a:extLst>
              <a:ext uri="{FF2B5EF4-FFF2-40B4-BE49-F238E27FC236}">
                <a16:creationId xmlns:a16="http://schemas.microsoft.com/office/drawing/2014/main" id="{1476B677-5D92-616A-0EBC-E20277583836}"/>
              </a:ext>
            </a:extLst>
          </p:cNvPr>
          <p:cNvSpPr/>
          <p:nvPr/>
        </p:nvSpPr>
        <p:spPr>
          <a:xfrm flipV="1">
            <a:off x="1031745" y="4216645"/>
            <a:ext cx="4896886" cy="2441406"/>
          </a:xfrm>
          <a:prstGeom prst="roundRect">
            <a:avLst/>
          </a:prstGeom>
          <a:solidFill>
            <a:srgbClr val="CFC0E6"/>
          </a:solidFill>
          <a:ln>
            <a:noFill/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52E951D-D38D-8E4A-5381-B78E30FF7DBD}"/>
              </a:ext>
            </a:extLst>
          </p:cNvPr>
          <p:cNvSpPr txBox="1"/>
          <p:nvPr/>
        </p:nvSpPr>
        <p:spPr>
          <a:xfrm>
            <a:off x="2088208" y="4282794"/>
            <a:ext cx="2633027" cy="39909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load image &amp; mask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0D773049-43C2-CF70-A8A8-D25671EF33E5}"/>
              </a:ext>
            </a:extLst>
          </p:cNvPr>
          <p:cNvSpPr txBox="1"/>
          <p:nvPr/>
        </p:nvSpPr>
        <p:spPr>
          <a:xfrm>
            <a:off x="1965337" y="4774551"/>
            <a:ext cx="263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check sum(WT) &gt; 0 </a:t>
            </a:r>
            <a:r>
              <a:rPr lang="zh-CN" altLang="en-US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？</a:t>
            </a:r>
            <a:endParaRPr lang="en-US" altLang="zh-CN" b="1" dirty="0">
              <a:solidFill>
                <a:srgbClr val="000000"/>
              </a:solidFill>
              <a:latin typeface="Cascadia Code" panose="020B0609020000020004" charset="0"/>
              <a:ea typeface="Inter"/>
              <a:cs typeface="Cascadia Code" panose="020B060902000002000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C19FCF6B-D723-FE67-85D0-CA219D9563C3}"/>
              </a:ext>
            </a:extLst>
          </p:cNvPr>
          <p:cNvSpPr txBox="1"/>
          <p:nvPr/>
        </p:nvSpPr>
        <p:spPr>
          <a:xfrm>
            <a:off x="1168461" y="5290860"/>
            <a:ext cx="431038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calculate bounding box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&amp; add perturbation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8D515463-FFAC-F795-6281-D7B76CAC6E63}"/>
              </a:ext>
            </a:extLst>
          </p:cNvPr>
          <p:cNvSpPr txBox="1"/>
          <p:nvPr/>
        </p:nvSpPr>
        <p:spPr>
          <a:xfrm>
            <a:off x="1543819" y="6084169"/>
            <a:ext cx="387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predict and calculate Loss</a:t>
            </a:r>
          </a:p>
        </p:txBody>
      </p: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07C11B5A-5D25-0218-384F-9C6F44FBF42A}"/>
              </a:ext>
            </a:extLst>
          </p:cNvPr>
          <p:cNvCxnSpPr>
            <a:cxnSpLocks/>
          </p:cNvCxnSpPr>
          <p:nvPr/>
        </p:nvCxnSpPr>
        <p:spPr>
          <a:xfrm>
            <a:off x="3180250" y="5937191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B0AEBB07-41B7-45AB-F649-2D090FACF0EF}"/>
              </a:ext>
            </a:extLst>
          </p:cNvPr>
          <p:cNvCxnSpPr>
            <a:cxnSpLocks/>
          </p:cNvCxnSpPr>
          <p:nvPr/>
        </p:nvCxnSpPr>
        <p:spPr>
          <a:xfrm>
            <a:off x="3180250" y="4659232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8AA6C6CA-0BD3-92D8-A2B6-3908B702AA8A}"/>
              </a:ext>
            </a:extLst>
          </p:cNvPr>
          <p:cNvCxnSpPr>
            <a:cxnSpLocks/>
          </p:cNvCxnSpPr>
          <p:nvPr/>
        </p:nvCxnSpPr>
        <p:spPr>
          <a:xfrm>
            <a:off x="3180250" y="5143883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4" name="图片 163" descr="加载">
            <a:extLst>
              <a:ext uri="{FF2B5EF4-FFF2-40B4-BE49-F238E27FC236}">
                <a16:creationId xmlns:a16="http://schemas.microsoft.com/office/drawing/2014/main" id="{5BE9F8FB-37DA-88F4-6849-464A9306F6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4585" y="4272281"/>
            <a:ext cx="440690" cy="440690"/>
          </a:xfrm>
          <a:prstGeom prst="rect">
            <a:avLst/>
          </a:prstGeom>
        </p:spPr>
      </p:pic>
      <p:pic>
        <p:nvPicPr>
          <p:cNvPr id="166" name="图片 165" descr="噪声">
            <a:extLst>
              <a:ext uri="{FF2B5EF4-FFF2-40B4-BE49-F238E27FC236}">
                <a16:creationId xmlns:a16="http://schemas.microsoft.com/office/drawing/2014/main" id="{220A9231-FF51-0E4C-DA9F-E628E40CCB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6928" y="5461912"/>
            <a:ext cx="475279" cy="475279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83A923D5-32FB-9A48-11C2-ABD9A7202C09}"/>
              </a:ext>
            </a:extLst>
          </p:cNvPr>
          <p:cNvSpPr txBox="1"/>
          <p:nvPr/>
        </p:nvSpPr>
        <p:spPr>
          <a:xfrm>
            <a:off x="7146633" y="3827002"/>
            <a:ext cx="3521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Inference &amp; Evaluation</a:t>
            </a:r>
          </a:p>
        </p:txBody>
      </p:sp>
      <p:pic>
        <p:nvPicPr>
          <p:cNvPr id="168" name="图片 167" descr="肿瘤科">
            <a:extLst>
              <a:ext uri="{FF2B5EF4-FFF2-40B4-BE49-F238E27FC236}">
                <a16:creationId xmlns:a16="http://schemas.microsoft.com/office/drawing/2014/main" id="{5FF43601-9815-F8A1-94F3-E441104EC7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8617" y="4185821"/>
            <a:ext cx="773430" cy="773430"/>
          </a:xfrm>
          <a:prstGeom prst="rect">
            <a:avLst/>
          </a:prstGeom>
        </p:spPr>
      </p:pic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FEF21DD0-7A68-BE95-CC7C-8535F5715AEB}"/>
              </a:ext>
            </a:extLst>
          </p:cNvPr>
          <p:cNvGrpSpPr/>
          <p:nvPr/>
        </p:nvGrpSpPr>
        <p:grpSpPr>
          <a:xfrm>
            <a:off x="6630623" y="4346227"/>
            <a:ext cx="4361815" cy="1310005"/>
            <a:chOff x="5914" y="8168"/>
            <a:chExt cx="6869" cy="2063"/>
          </a:xfrm>
        </p:grpSpPr>
        <p:sp>
          <p:nvSpPr>
            <p:cNvPr id="170" name="圆角矩形 64">
              <a:extLst>
                <a:ext uri="{FF2B5EF4-FFF2-40B4-BE49-F238E27FC236}">
                  <a16:creationId xmlns:a16="http://schemas.microsoft.com/office/drawing/2014/main" id="{87E4C1CC-FCF2-8971-A107-2CEB2032D23F}"/>
                </a:ext>
              </a:extLst>
            </p:cNvPr>
            <p:cNvSpPr/>
            <p:nvPr/>
          </p:nvSpPr>
          <p:spPr>
            <a:xfrm>
              <a:off x="6058" y="9409"/>
              <a:ext cx="2124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圆角矩形 66">
              <a:extLst>
                <a:ext uri="{FF2B5EF4-FFF2-40B4-BE49-F238E27FC236}">
                  <a16:creationId xmlns:a16="http://schemas.microsoft.com/office/drawing/2014/main" id="{ED07A74B-A2A0-5F9A-893F-66C02B8401FD}"/>
                </a:ext>
              </a:extLst>
            </p:cNvPr>
            <p:cNvSpPr/>
            <p:nvPr/>
          </p:nvSpPr>
          <p:spPr>
            <a:xfrm>
              <a:off x="8341" y="9409"/>
              <a:ext cx="2119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圆角矩形 68">
              <a:extLst>
                <a:ext uri="{FF2B5EF4-FFF2-40B4-BE49-F238E27FC236}">
                  <a16:creationId xmlns:a16="http://schemas.microsoft.com/office/drawing/2014/main" id="{BD553E8E-5121-106E-8B65-5F97F88A1AEC}"/>
                </a:ext>
              </a:extLst>
            </p:cNvPr>
            <p:cNvSpPr/>
            <p:nvPr/>
          </p:nvSpPr>
          <p:spPr>
            <a:xfrm>
              <a:off x="10606" y="9409"/>
              <a:ext cx="2061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EF6C49A2-FCBD-0DE2-612F-666613DF8584}"/>
                </a:ext>
              </a:extLst>
            </p:cNvPr>
            <p:cNvGrpSpPr/>
            <p:nvPr/>
          </p:nvGrpSpPr>
          <p:grpSpPr>
            <a:xfrm>
              <a:off x="5914" y="8168"/>
              <a:ext cx="6869" cy="2063"/>
              <a:chOff x="6588" y="8202"/>
              <a:chExt cx="6869" cy="2063"/>
            </a:xfrm>
          </p:grpSpPr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9BC5A280-7A59-83C8-71C4-1A9DEB25DD86}"/>
                  </a:ext>
                </a:extLst>
              </p:cNvPr>
              <p:cNvSpPr txBox="1"/>
              <p:nvPr/>
            </p:nvSpPr>
            <p:spPr>
              <a:xfrm>
                <a:off x="8733" y="8202"/>
                <a:ext cx="2350" cy="58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inference</a:t>
                </a:r>
              </a:p>
            </p:txBody>
          </p: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8CC4B05B-340F-9756-CAEC-DE5051574A46}"/>
                  </a:ext>
                </a:extLst>
              </p:cNvPr>
              <p:cNvCxnSpPr/>
              <p:nvPr/>
            </p:nvCxnSpPr>
            <p:spPr>
              <a:xfrm>
                <a:off x="10370" y="8775"/>
                <a:ext cx="910" cy="526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A6FB1104-C604-945A-B4F8-4FA4187D9AD8}"/>
                  </a:ext>
                </a:extLst>
              </p:cNvPr>
              <p:cNvCxnSpPr/>
              <p:nvPr/>
            </p:nvCxnSpPr>
            <p:spPr>
              <a:xfrm flipH="1">
                <a:off x="8366" y="8764"/>
                <a:ext cx="865" cy="577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02CFBF71-0B5B-AC41-DB32-863E28614ADB}"/>
                  </a:ext>
                </a:extLst>
              </p:cNvPr>
              <p:cNvCxnSpPr/>
              <p:nvPr/>
            </p:nvCxnSpPr>
            <p:spPr>
              <a:xfrm>
                <a:off x="9780" y="8775"/>
                <a:ext cx="11" cy="523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938E11EC-0639-66D5-67C6-C6963E0A4D4D}"/>
                  </a:ext>
                </a:extLst>
              </p:cNvPr>
              <p:cNvSpPr txBox="1"/>
              <p:nvPr/>
            </p:nvSpPr>
            <p:spPr>
              <a:xfrm>
                <a:off x="6588" y="9443"/>
                <a:ext cx="2427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</a:rPr>
                  <a:t>WT Segmentation</a:t>
                </a: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CD851828-0487-5078-D334-8AA9D83D0BC4}"/>
                  </a:ext>
                </a:extLst>
              </p:cNvPr>
              <p:cNvSpPr txBox="1"/>
              <p:nvPr/>
            </p:nvSpPr>
            <p:spPr>
              <a:xfrm>
                <a:off x="8856" y="9409"/>
                <a:ext cx="2378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TC Segmentation</a:t>
                </a: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043A536C-E6D8-8B42-DCBA-8A8B26218A9C}"/>
                  </a:ext>
                </a:extLst>
              </p:cNvPr>
              <p:cNvSpPr txBox="1"/>
              <p:nvPr/>
            </p:nvSpPr>
            <p:spPr>
              <a:xfrm>
                <a:off x="11134" y="9409"/>
                <a:ext cx="2323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ET Segmentation</a:t>
                </a:r>
              </a:p>
            </p:txBody>
          </p:sp>
        </p:grpSp>
      </p:grp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9B7AD2C-C2FC-5D86-3705-D7FC21D2B173}"/>
              </a:ext>
            </a:extLst>
          </p:cNvPr>
          <p:cNvSpPr txBox="1"/>
          <p:nvPr/>
        </p:nvSpPr>
        <p:spPr>
          <a:xfrm>
            <a:off x="7932563" y="5788063"/>
            <a:ext cx="164827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Evaluation</a:t>
            </a:r>
          </a:p>
        </p:txBody>
      </p:sp>
      <p:sp>
        <p:nvSpPr>
          <p:cNvPr id="184" name="圆角矩形 42">
            <a:extLst>
              <a:ext uri="{FF2B5EF4-FFF2-40B4-BE49-F238E27FC236}">
                <a16:creationId xmlns:a16="http://schemas.microsoft.com/office/drawing/2014/main" id="{1988BFEB-7797-C544-5D43-F167F74ED72D}"/>
              </a:ext>
            </a:extLst>
          </p:cNvPr>
          <p:cNvSpPr/>
          <p:nvPr/>
        </p:nvSpPr>
        <p:spPr>
          <a:xfrm>
            <a:off x="8088138" y="6249608"/>
            <a:ext cx="1181100" cy="316230"/>
          </a:xfrm>
          <a:prstGeom prst="roundRect">
            <a:avLst/>
          </a:prstGeom>
          <a:solidFill>
            <a:srgbClr val="2C2C2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48633FF-BE5F-7513-1613-60619E03B419}"/>
              </a:ext>
            </a:extLst>
          </p:cNvPr>
          <p:cNvSpPr txBox="1"/>
          <p:nvPr/>
        </p:nvSpPr>
        <p:spPr>
          <a:xfrm>
            <a:off x="8101378" y="6228653"/>
            <a:ext cx="131064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Dice Score</a:t>
            </a:r>
            <a:r>
              <a:rPr lang="en-US" altLang="zh-CN" sz="1600" dirty="0"/>
              <a:t> 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93BEE49-66C1-887D-056C-8086437499B7}"/>
              </a:ext>
            </a:extLst>
          </p:cNvPr>
          <p:cNvSpPr/>
          <p:nvPr/>
        </p:nvSpPr>
        <p:spPr>
          <a:xfrm>
            <a:off x="-386499" y="-414779"/>
            <a:ext cx="12707896" cy="7607430"/>
          </a:xfrm>
          <a:custGeom>
            <a:avLst/>
            <a:gdLst>
              <a:gd name="connsiteX0" fmla="*/ 5966374 w 12707896"/>
              <a:gd name="connsiteY0" fmla="*/ 480767 h 7607430"/>
              <a:gd name="connsiteX1" fmla="*/ 5966374 w 12707896"/>
              <a:gd name="connsiteY1" fmla="*/ 4260350 h 7607430"/>
              <a:gd name="connsiteX2" fmla="*/ 12027452 w 12707896"/>
              <a:gd name="connsiteY2" fmla="*/ 4260350 h 7607430"/>
              <a:gd name="connsiteX3" fmla="*/ 12027452 w 12707896"/>
              <a:gd name="connsiteY3" fmla="*/ 480767 h 7607430"/>
              <a:gd name="connsiteX4" fmla="*/ 0 w 12707896"/>
              <a:gd name="connsiteY4" fmla="*/ 0 h 7607430"/>
              <a:gd name="connsiteX5" fmla="*/ 12707896 w 12707896"/>
              <a:gd name="connsiteY5" fmla="*/ 0 h 7607430"/>
              <a:gd name="connsiteX6" fmla="*/ 12707896 w 12707896"/>
              <a:gd name="connsiteY6" fmla="*/ 7607430 h 7607430"/>
              <a:gd name="connsiteX7" fmla="*/ 0 w 12707896"/>
              <a:gd name="connsiteY7" fmla="*/ 7607430 h 7607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07896" h="7607430">
                <a:moveTo>
                  <a:pt x="5966374" y="480767"/>
                </a:moveTo>
                <a:lnTo>
                  <a:pt x="5966374" y="4260350"/>
                </a:lnTo>
                <a:lnTo>
                  <a:pt x="12027452" y="4260350"/>
                </a:lnTo>
                <a:lnTo>
                  <a:pt x="12027452" y="480767"/>
                </a:lnTo>
                <a:close/>
                <a:moveTo>
                  <a:pt x="0" y="0"/>
                </a:moveTo>
                <a:lnTo>
                  <a:pt x="12707896" y="0"/>
                </a:lnTo>
                <a:lnTo>
                  <a:pt x="12707896" y="7607430"/>
                </a:lnTo>
                <a:lnTo>
                  <a:pt x="0" y="7607430"/>
                </a:lnTo>
                <a:close/>
              </a:path>
            </a:pathLst>
          </a:custGeom>
          <a:solidFill>
            <a:srgbClr val="6B6B6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42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5600" y="26955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>
                <a:latin typeface="Cascadia Code" panose="020B0609020000020004" charset="0"/>
                <a:ea typeface="+mj-ea"/>
                <a:cs typeface="Cascadia Code" panose="020B0609020000020004" charset="0"/>
              </a:rPr>
              <a:t>3. M</a:t>
            </a:r>
            <a:r>
              <a:rPr lang="en-US" altLang="zh-CN" sz="24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odel Architecture</a:t>
            </a:r>
          </a:p>
        </p:txBody>
      </p:sp>
      <p:pic>
        <p:nvPicPr>
          <p:cNvPr id="5" name="图片 4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1070"/>
            <a:ext cx="12192000" cy="2597785"/>
          </a:xfrm>
          <a:prstGeom prst="rect">
            <a:avLst/>
          </a:prstGeom>
        </p:spPr>
      </p:pic>
      <p:pic>
        <p:nvPicPr>
          <p:cNvPr id="2" name="图片 1" descr="固定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540" y="2519045"/>
            <a:ext cx="432435" cy="432435"/>
          </a:xfrm>
          <a:prstGeom prst="rect">
            <a:avLst/>
          </a:prstGeom>
        </p:spPr>
      </p:pic>
      <p:pic>
        <p:nvPicPr>
          <p:cNvPr id="3" name="图片 2" descr="固定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185" y="3429000"/>
            <a:ext cx="387985" cy="387985"/>
          </a:xfrm>
          <a:prstGeom prst="rect">
            <a:avLst/>
          </a:prstGeom>
        </p:spPr>
      </p:pic>
      <p:pic>
        <p:nvPicPr>
          <p:cNvPr id="6" name="图片 5" descr="不固定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280" y="2669540"/>
            <a:ext cx="344170" cy="3441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3">
            <a:extLst>
              <a:ext uri="{FF2B5EF4-FFF2-40B4-BE49-F238E27FC236}">
                <a16:creationId xmlns:a16="http://schemas.microsoft.com/office/drawing/2014/main" id="{2C98762E-BE92-42D9-8566-4D9458AF17E7}"/>
              </a:ext>
            </a:extLst>
          </p:cNvPr>
          <p:cNvSpPr/>
          <p:nvPr/>
        </p:nvSpPr>
        <p:spPr>
          <a:xfrm>
            <a:off x="1031745" y="635617"/>
            <a:ext cx="4411980" cy="31661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8C1AA7-989A-252A-32A3-DF9C8602EB6B}"/>
              </a:ext>
            </a:extLst>
          </p:cNvPr>
          <p:cNvSpPr txBox="1"/>
          <p:nvPr/>
        </p:nvSpPr>
        <p:spPr>
          <a:xfrm>
            <a:off x="1678022" y="198415"/>
            <a:ext cx="3119425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D</a:t>
            </a: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ata </a:t>
            </a:r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</a:t>
            </a: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reprocessing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05E3A1-719F-B9DA-B22A-DDB6EDFB1735}"/>
              </a:ext>
            </a:extLst>
          </p:cNvPr>
          <p:cNvSpPr txBox="1"/>
          <p:nvPr/>
        </p:nvSpPr>
        <p:spPr>
          <a:xfrm>
            <a:off x="1192723" y="784972"/>
            <a:ext cx="2373630" cy="3168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Construction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A12655E-8752-98F9-031E-16148C28EDFA}"/>
              </a:ext>
            </a:extLst>
          </p:cNvPr>
          <p:cNvGrpSpPr/>
          <p:nvPr/>
        </p:nvGrpSpPr>
        <p:grpSpPr>
          <a:xfrm>
            <a:off x="432213" y="1528726"/>
            <a:ext cx="2360930" cy="2157730"/>
            <a:chOff x="12253" y="3010"/>
            <a:chExt cx="3810" cy="3810"/>
          </a:xfrm>
        </p:grpSpPr>
        <p:pic>
          <p:nvPicPr>
            <p:cNvPr id="83" name="图片 82" descr="3个点">
              <a:extLst>
                <a:ext uri="{FF2B5EF4-FFF2-40B4-BE49-F238E27FC236}">
                  <a16:creationId xmlns:a16="http://schemas.microsoft.com/office/drawing/2014/main" id="{84F10D3A-7630-EEAC-F711-59FDACDFB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53" y="3010"/>
              <a:ext cx="3810" cy="3810"/>
            </a:xfrm>
            <a:prstGeom prst="rect">
              <a:avLst/>
            </a:prstGeom>
          </p:spPr>
        </p:pic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D7F67792-A10C-4E53-706A-1ED2925563DC}"/>
                </a:ext>
              </a:extLst>
            </p:cNvPr>
            <p:cNvSpPr txBox="1"/>
            <p:nvPr/>
          </p:nvSpPr>
          <p:spPr>
            <a:xfrm>
              <a:off x="13554" y="4659"/>
              <a:ext cx="1289" cy="52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sz="1600" b="1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FLAIR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36AA499F-A485-CB8B-433E-79710DC10D92}"/>
                </a:ext>
              </a:extLst>
            </p:cNvPr>
            <p:cNvSpPr txBox="1"/>
            <p:nvPr/>
          </p:nvSpPr>
          <p:spPr>
            <a:xfrm>
              <a:off x="13640" y="3310"/>
              <a:ext cx="1134" cy="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T1ce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6FDB143-06B8-21BA-AF93-5933D0DC02C6}"/>
                </a:ext>
              </a:extLst>
            </p:cNvPr>
            <p:cNvSpPr txBox="1"/>
            <p:nvPr/>
          </p:nvSpPr>
          <p:spPr>
            <a:xfrm>
              <a:off x="13839" y="5900"/>
              <a:ext cx="841" cy="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T2</a:t>
              </a:r>
            </a:p>
          </p:txBody>
        </p: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AF23BD75-EB65-4A57-3AA2-A3FFB8262442}"/>
              </a:ext>
            </a:extLst>
          </p:cNvPr>
          <p:cNvSpPr txBox="1"/>
          <p:nvPr/>
        </p:nvSpPr>
        <p:spPr>
          <a:xfrm>
            <a:off x="3237734" y="784972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Generation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21B0F6D2-F83D-530A-5726-EE9FAD81412C}"/>
              </a:ext>
            </a:extLst>
          </p:cNvPr>
          <p:cNvGrpSpPr/>
          <p:nvPr/>
        </p:nvGrpSpPr>
        <p:grpSpPr>
          <a:xfrm>
            <a:off x="3539677" y="1479150"/>
            <a:ext cx="2211705" cy="1905000"/>
            <a:chOff x="5998" y="3045"/>
            <a:chExt cx="3483" cy="3000"/>
          </a:xfrm>
        </p:grpSpPr>
        <p:pic>
          <p:nvPicPr>
            <p:cNvPr id="89" name="图片 88" descr="一行三列">
              <a:extLst>
                <a:ext uri="{FF2B5EF4-FFF2-40B4-BE49-F238E27FC236}">
                  <a16:creationId xmlns:a16="http://schemas.microsoft.com/office/drawing/2014/main" id="{72A6B780-C9BE-B177-856C-004784086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8" y="3045"/>
              <a:ext cx="3000" cy="3000"/>
            </a:xfrm>
            <a:prstGeom prst="rect">
              <a:avLst/>
            </a:prstGeom>
          </p:spPr>
        </p:pic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DD2A2010-00D0-E95E-F84B-9D9195C68382}"/>
                </a:ext>
              </a:extLst>
            </p:cNvPr>
            <p:cNvSpPr txBox="1"/>
            <p:nvPr/>
          </p:nvSpPr>
          <p:spPr>
            <a:xfrm>
              <a:off x="6195" y="3982"/>
              <a:ext cx="10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WT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9F2E560-E090-89AD-41F2-F0A6D92DCFBF}"/>
                </a:ext>
              </a:extLst>
            </p:cNvPr>
            <p:cNvSpPr txBox="1"/>
            <p:nvPr/>
          </p:nvSpPr>
          <p:spPr>
            <a:xfrm>
              <a:off x="7170" y="3982"/>
              <a:ext cx="8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TC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04342F37-4C61-C038-EBE6-A077B6C98946}"/>
                </a:ext>
              </a:extLst>
            </p:cNvPr>
            <p:cNvSpPr txBox="1"/>
            <p:nvPr/>
          </p:nvSpPr>
          <p:spPr>
            <a:xfrm>
              <a:off x="8093" y="3982"/>
              <a:ext cx="13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ET</a:t>
              </a:r>
            </a:p>
          </p:txBody>
        </p:sp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5C5ADBE7-F02E-37B9-A708-9FDB4B898552}"/>
              </a:ext>
            </a:extLst>
          </p:cNvPr>
          <p:cNvCxnSpPr/>
          <p:nvPr/>
        </p:nvCxnSpPr>
        <p:spPr>
          <a:xfrm flipV="1">
            <a:off x="2066795" y="2518392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64E8BD7-DCDE-78D8-0BF0-55DA28C397AD}"/>
              </a:ext>
            </a:extLst>
          </p:cNvPr>
          <p:cNvSpPr txBox="1"/>
          <p:nvPr/>
        </p:nvSpPr>
        <p:spPr>
          <a:xfrm>
            <a:off x="1937890" y="2139297"/>
            <a:ext cx="833755" cy="360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i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fusion</a:t>
            </a:r>
          </a:p>
        </p:txBody>
      </p:sp>
      <p:pic>
        <p:nvPicPr>
          <p:cNvPr id="96" name="图片 95" descr="filter_svg">
            <a:extLst>
              <a:ext uri="{FF2B5EF4-FFF2-40B4-BE49-F238E27FC236}">
                <a16:creationId xmlns:a16="http://schemas.microsoft.com/office/drawing/2014/main" id="{0B92E4C8-0894-9408-13EC-3787E75BC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055" y="2171682"/>
            <a:ext cx="589280" cy="589280"/>
          </a:xfrm>
          <a:prstGeom prst="rect">
            <a:avLst/>
          </a:prstGeom>
        </p:spPr>
      </p:pic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8F3FAE1-E075-20A5-159A-2AA284F5AA33}"/>
              </a:ext>
            </a:extLst>
          </p:cNvPr>
          <p:cNvCxnSpPr/>
          <p:nvPr/>
        </p:nvCxnSpPr>
        <p:spPr>
          <a:xfrm>
            <a:off x="3462207" y="943404"/>
            <a:ext cx="0" cy="2601798"/>
          </a:xfrm>
          <a:prstGeom prst="line">
            <a:avLst/>
          </a:prstGeom>
          <a:ln w="444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68E140E0-2E6E-3BCA-072B-B7D7F35298F0}"/>
              </a:ext>
            </a:extLst>
          </p:cNvPr>
          <p:cNvSpPr txBox="1"/>
          <p:nvPr/>
        </p:nvSpPr>
        <p:spPr>
          <a:xfrm>
            <a:off x="8199635" y="198415"/>
            <a:ext cx="655955" cy="361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SAM</a:t>
            </a:r>
          </a:p>
        </p:txBody>
      </p:sp>
      <p:sp>
        <p:nvSpPr>
          <p:cNvPr id="100" name="圆角矩形 27">
            <a:extLst>
              <a:ext uri="{FF2B5EF4-FFF2-40B4-BE49-F238E27FC236}">
                <a16:creationId xmlns:a16="http://schemas.microsoft.com/office/drawing/2014/main" id="{4BD8A662-A500-E276-5A34-C16249E17D75}"/>
              </a:ext>
            </a:extLst>
          </p:cNvPr>
          <p:cNvSpPr/>
          <p:nvPr/>
        </p:nvSpPr>
        <p:spPr>
          <a:xfrm>
            <a:off x="5703671" y="658458"/>
            <a:ext cx="5751680" cy="3063818"/>
          </a:xfrm>
          <a:prstGeom prst="roundRect">
            <a:avLst/>
          </a:prstGeom>
          <a:solidFill>
            <a:srgbClr val="CCE2F7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F5CB352-A3A7-8973-0386-5B6D6322BED7}"/>
              </a:ext>
            </a:extLst>
          </p:cNvPr>
          <p:cNvSpPr/>
          <p:nvPr/>
        </p:nvSpPr>
        <p:spPr>
          <a:xfrm>
            <a:off x="5774330" y="1818673"/>
            <a:ext cx="1467485" cy="707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1AEAC8A-F605-2E4B-373F-749D440BD4D7}"/>
              </a:ext>
            </a:extLst>
          </p:cNvPr>
          <p:cNvSpPr txBox="1"/>
          <p:nvPr/>
        </p:nvSpPr>
        <p:spPr>
          <a:xfrm>
            <a:off x="5313002" y="1849075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Encoder</a:t>
            </a: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548BFDF-3591-EDCF-AB05-0B9218FCBD09}"/>
              </a:ext>
            </a:extLst>
          </p:cNvPr>
          <p:cNvGrpSpPr/>
          <p:nvPr/>
        </p:nvGrpSpPr>
        <p:grpSpPr>
          <a:xfrm>
            <a:off x="7733772" y="1376546"/>
            <a:ext cx="265955" cy="1849584"/>
            <a:chOff x="3986782" y="4558167"/>
            <a:chExt cx="265955" cy="1849584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BE88E06-9BBB-6F0B-E184-943595DB921B}"/>
                </a:ext>
              </a:extLst>
            </p:cNvPr>
            <p:cNvSpPr/>
            <p:nvPr/>
          </p:nvSpPr>
          <p:spPr>
            <a:xfrm>
              <a:off x="3986782" y="494995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BC7D1B8-6A42-F567-1425-E403EADEA02D}"/>
                </a:ext>
              </a:extLst>
            </p:cNvPr>
            <p:cNvSpPr/>
            <p:nvPr/>
          </p:nvSpPr>
          <p:spPr>
            <a:xfrm>
              <a:off x="3986782" y="5343823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0C42DC0C-9954-AD64-16D4-F6603ECD023E}"/>
                </a:ext>
              </a:extLst>
            </p:cNvPr>
            <p:cNvSpPr/>
            <p:nvPr/>
          </p:nvSpPr>
          <p:spPr>
            <a:xfrm>
              <a:off x="3986782" y="5737694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43FAD0EE-DB97-76A9-251C-2FAAA27FD5E7}"/>
                </a:ext>
              </a:extLst>
            </p:cNvPr>
            <p:cNvSpPr/>
            <p:nvPr/>
          </p:nvSpPr>
          <p:spPr>
            <a:xfrm>
              <a:off x="3986782" y="613529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4C554F7-FA2E-642C-62B3-60AE57D0BCBF}"/>
                </a:ext>
              </a:extLst>
            </p:cNvPr>
            <p:cNvSpPr/>
            <p:nvPr/>
          </p:nvSpPr>
          <p:spPr>
            <a:xfrm>
              <a:off x="3986782" y="4558167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B1F2476-DDC2-9A2A-47BF-5CB2AF34D1E2}"/>
              </a:ext>
            </a:extLst>
          </p:cNvPr>
          <p:cNvSpPr txBox="1"/>
          <p:nvPr/>
        </p:nvSpPr>
        <p:spPr>
          <a:xfrm>
            <a:off x="6671679" y="667645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Embedding</a:t>
            </a: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5A27374-D15A-C5FE-E233-FE8B77443B0C}"/>
              </a:ext>
            </a:extLst>
          </p:cNvPr>
          <p:cNvCxnSpPr>
            <a:cxnSpLocks/>
          </p:cNvCxnSpPr>
          <p:nvPr/>
        </p:nvCxnSpPr>
        <p:spPr>
          <a:xfrm flipV="1">
            <a:off x="7344698" y="2187827"/>
            <a:ext cx="29251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梯形 113">
            <a:extLst>
              <a:ext uri="{FF2B5EF4-FFF2-40B4-BE49-F238E27FC236}">
                <a16:creationId xmlns:a16="http://schemas.microsoft.com/office/drawing/2014/main" id="{0DF98A93-299B-7258-11E8-D0ABE86725C6}"/>
              </a:ext>
            </a:extLst>
          </p:cNvPr>
          <p:cNvSpPr/>
          <p:nvPr/>
        </p:nvSpPr>
        <p:spPr>
          <a:xfrm>
            <a:off x="8308510" y="2197872"/>
            <a:ext cx="853550" cy="417997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EFBE08C-2D4E-EC11-5E09-0E05EF770E80}"/>
              </a:ext>
            </a:extLst>
          </p:cNvPr>
          <p:cNvSpPr txBox="1"/>
          <p:nvPr/>
        </p:nvSpPr>
        <p:spPr>
          <a:xfrm>
            <a:off x="7550598" y="2231080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conv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095154E-5A1B-58F5-FF60-BF68E9F1EC8A}"/>
              </a:ext>
            </a:extLst>
          </p:cNvPr>
          <p:cNvCxnSpPr>
            <a:cxnSpLocks/>
          </p:cNvCxnSpPr>
          <p:nvPr/>
        </p:nvCxnSpPr>
        <p:spPr>
          <a:xfrm flipV="1">
            <a:off x="8127521" y="1382332"/>
            <a:ext cx="1263142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5755913E-81C7-78F4-8F98-B8E01C45BFF7}"/>
              </a:ext>
            </a:extLst>
          </p:cNvPr>
          <p:cNvSpPr/>
          <p:nvPr/>
        </p:nvSpPr>
        <p:spPr>
          <a:xfrm>
            <a:off x="8538848" y="1188006"/>
            <a:ext cx="368640" cy="368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2D757165-EB69-3778-E056-6118A1FCBE83}"/>
              </a:ext>
            </a:extLst>
          </p:cNvPr>
          <p:cNvCxnSpPr>
            <a:cxnSpLocks/>
          </p:cNvCxnSpPr>
          <p:nvPr/>
        </p:nvCxnSpPr>
        <p:spPr>
          <a:xfrm flipH="1" flipV="1">
            <a:off x="8704462" y="2691780"/>
            <a:ext cx="2647" cy="29343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502320B3-6E02-74E1-8D49-FAD6A65EE473}"/>
              </a:ext>
            </a:extLst>
          </p:cNvPr>
          <p:cNvCxnSpPr>
            <a:cxnSpLocks/>
          </p:cNvCxnSpPr>
          <p:nvPr/>
        </p:nvCxnSpPr>
        <p:spPr>
          <a:xfrm flipV="1">
            <a:off x="8701576" y="167636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FFA711AD-4353-E262-3D62-B6A5E9E8BECE}"/>
              </a:ext>
            </a:extLst>
          </p:cNvPr>
          <p:cNvCxnSpPr>
            <a:cxnSpLocks/>
          </p:cNvCxnSpPr>
          <p:nvPr/>
        </p:nvCxnSpPr>
        <p:spPr>
          <a:xfrm>
            <a:off x="8723168" y="1174377"/>
            <a:ext cx="0" cy="365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4741183-7C42-BE06-A1DC-9D3D321006CF}"/>
              </a:ext>
            </a:extLst>
          </p:cNvPr>
          <p:cNvSpPr txBox="1"/>
          <p:nvPr/>
        </p:nvSpPr>
        <p:spPr>
          <a:xfrm>
            <a:off x="8273220" y="3023449"/>
            <a:ext cx="856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C92C9D8-4CAA-50A5-A37E-E82748B9EF60}"/>
              </a:ext>
            </a:extLst>
          </p:cNvPr>
          <p:cNvSpPr/>
          <p:nvPr/>
        </p:nvSpPr>
        <p:spPr>
          <a:xfrm>
            <a:off x="9473146" y="1150684"/>
            <a:ext cx="1819355" cy="463296"/>
          </a:xfrm>
          <a:prstGeom prst="rect">
            <a:avLst/>
          </a:prstGeom>
          <a:solidFill>
            <a:srgbClr val="EF95D7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807D496-42EB-14E9-2F41-8ACE513E6053}"/>
              </a:ext>
            </a:extLst>
          </p:cNvPr>
          <p:cNvSpPr/>
          <p:nvPr/>
        </p:nvSpPr>
        <p:spPr>
          <a:xfrm>
            <a:off x="9403384" y="2186420"/>
            <a:ext cx="1958878" cy="463296"/>
          </a:xfrm>
          <a:prstGeom prst="rect">
            <a:avLst/>
          </a:prstGeom>
          <a:solidFill>
            <a:srgbClr val="C780E4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8EB18E83-119E-1F0A-3BD1-0C2E567703EF}"/>
              </a:ext>
            </a:extLst>
          </p:cNvPr>
          <p:cNvCxnSpPr>
            <a:cxnSpLocks/>
          </p:cNvCxnSpPr>
          <p:nvPr/>
        </p:nvCxnSpPr>
        <p:spPr>
          <a:xfrm flipV="1">
            <a:off x="9707416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A0BDF5D7-D7AA-C891-142F-1D2828CE53E4}"/>
              </a:ext>
            </a:extLst>
          </p:cNvPr>
          <p:cNvCxnSpPr>
            <a:cxnSpLocks/>
          </p:cNvCxnSpPr>
          <p:nvPr/>
        </p:nvCxnSpPr>
        <p:spPr>
          <a:xfrm flipV="1">
            <a:off x="10382823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EDCD7DF7-E030-F454-051C-C99CEC9095C8}"/>
              </a:ext>
            </a:extLst>
          </p:cNvPr>
          <p:cNvCxnSpPr>
            <a:cxnSpLocks/>
          </p:cNvCxnSpPr>
          <p:nvPr/>
        </p:nvCxnSpPr>
        <p:spPr>
          <a:xfrm flipV="1">
            <a:off x="11048536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B6C41E3F-24AC-0AB5-50CA-036D1361311D}"/>
              </a:ext>
            </a:extLst>
          </p:cNvPr>
          <p:cNvCxnSpPr>
            <a:cxnSpLocks/>
          </p:cNvCxnSpPr>
          <p:nvPr/>
        </p:nvCxnSpPr>
        <p:spPr>
          <a:xfrm flipV="1">
            <a:off x="9731722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7299476D-8406-0049-3860-6BB50798E2C6}"/>
              </a:ext>
            </a:extLst>
          </p:cNvPr>
          <p:cNvCxnSpPr>
            <a:cxnSpLocks/>
          </p:cNvCxnSpPr>
          <p:nvPr/>
        </p:nvCxnSpPr>
        <p:spPr>
          <a:xfrm flipV="1">
            <a:off x="10407129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74A544F8-429A-C219-A613-A584F2D6D69B}"/>
              </a:ext>
            </a:extLst>
          </p:cNvPr>
          <p:cNvCxnSpPr>
            <a:cxnSpLocks/>
          </p:cNvCxnSpPr>
          <p:nvPr/>
        </p:nvCxnSpPr>
        <p:spPr>
          <a:xfrm flipV="1">
            <a:off x="11072842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E45EEBF-1EEE-AE75-7E70-F8D5738A4832}"/>
              </a:ext>
            </a:extLst>
          </p:cNvPr>
          <p:cNvSpPr txBox="1"/>
          <p:nvPr/>
        </p:nvSpPr>
        <p:spPr>
          <a:xfrm>
            <a:off x="9226189" y="1192805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Decoder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A3937B6-3FFE-BA54-8850-6DC7CF6D45D1}"/>
              </a:ext>
            </a:extLst>
          </p:cNvPr>
          <p:cNvSpPr txBox="1"/>
          <p:nvPr/>
        </p:nvSpPr>
        <p:spPr>
          <a:xfrm>
            <a:off x="9226189" y="2239997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Prompt Encoder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ED5BA36-C840-D386-CEBA-DA25EE42865D}"/>
              </a:ext>
            </a:extLst>
          </p:cNvPr>
          <p:cNvSpPr txBox="1"/>
          <p:nvPr/>
        </p:nvSpPr>
        <p:spPr>
          <a:xfrm>
            <a:off x="9162060" y="3077288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points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EF6F931-7BA8-6081-2FE7-8E7AD0FD1208}"/>
              </a:ext>
            </a:extLst>
          </p:cNvPr>
          <p:cNvSpPr txBox="1"/>
          <p:nvPr/>
        </p:nvSpPr>
        <p:spPr>
          <a:xfrm>
            <a:off x="9922979" y="3091201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box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4FC51C76-CEA1-9D4F-7EE3-4BFA18AF8C8F}"/>
              </a:ext>
            </a:extLst>
          </p:cNvPr>
          <p:cNvSpPr txBox="1"/>
          <p:nvPr/>
        </p:nvSpPr>
        <p:spPr>
          <a:xfrm>
            <a:off x="10595143" y="3091201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text</a:t>
            </a:r>
          </a:p>
        </p:txBody>
      </p:sp>
      <p:pic>
        <p:nvPicPr>
          <p:cNvPr id="142" name="图片 141" descr="固定">
            <a:extLst>
              <a:ext uri="{FF2B5EF4-FFF2-40B4-BE49-F238E27FC236}">
                <a16:creationId xmlns:a16="http://schemas.microsoft.com/office/drawing/2014/main" id="{CD5A41ED-359A-899A-57A6-B0C008EC0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216" y="1621048"/>
            <a:ext cx="419742" cy="419742"/>
          </a:xfrm>
          <a:prstGeom prst="rect">
            <a:avLst/>
          </a:prstGeom>
        </p:spPr>
      </p:pic>
      <p:pic>
        <p:nvPicPr>
          <p:cNvPr id="143" name="图片 142" descr="固定">
            <a:extLst>
              <a:ext uri="{FF2B5EF4-FFF2-40B4-BE49-F238E27FC236}">
                <a16:creationId xmlns:a16="http://schemas.microsoft.com/office/drawing/2014/main" id="{BC91B0B5-7E26-8F56-1627-1D778684C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1211" y="1938807"/>
            <a:ext cx="419742" cy="419742"/>
          </a:xfrm>
          <a:prstGeom prst="rect">
            <a:avLst/>
          </a:prstGeom>
        </p:spPr>
      </p:pic>
      <p:pic>
        <p:nvPicPr>
          <p:cNvPr id="144" name="图片 143" descr="不固定">
            <a:extLst>
              <a:ext uri="{FF2B5EF4-FFF2-40B4-BE49-F238E27FC236}">
                <a16:creationId xmlns:a16="http://schemas.microsoft.com/office/drawing/2014/main" id="{3BDBE86D-50F8-C32B-87B9-413A56455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914" y="760200"/>
            <a:ext cx="499229" cy="499229"/>
          </a:xfrm>
          <a:prstGeom prst="rect">
            <a:avLst/>
          </a:prstGeom>
        </p:spPr>
      </p:pic>
      <p:sp>
        <p:nvSpPr>
          <p:cNvPr id="145" name="文本框 144">
            <a:extLst>
              <a:ext uri="{FF2B5EF4-FFF2-40B4-BE49-F238E27FC236}">
                <a16:creationId xmlns:a16="http://schemas.microsoft.com/office/drawing/2014/main" id="{D1DB79B7-9D44-372B-1DC5-A0554B9C54D1}"/>
              </a:ext>
            </a:extLst>
          </p:cNvPr>
          <p:cNvSpPr txBox="1"/>
          <p:nvPr/>
        </p:nvSpPr>
        <p:spPr>
          <a:xfrm>
            <a:off x="2713401" y="3828506"/>
            <a:ext cx="1382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Training</a:t>
            </a:r>
          </a:p>
        </p:txBody>
      </p:sp>
      <p:sp>
        <p:nvSpPr>
          <p:cNvPr id="146" name="圆角矩形 36">
            <a:extLst>
              <a:ext uri="{FF2B5EF4-FFF2-40B4-BE49-F238E27FC236}">
                <a16:creationId xmlns:a16="http://schemas.microsoft.com/office/drawing/2014/main" id="{535FD848-F1E6-B2B0-375B-4DD3235DAE79}"/>
              </a:ext>
            </a:extLst>
          </p:cNvPr>
          <p:cNvSpPr/>
          <p:nvPr/>
        </p:nvSpPr>
        <p:spPr>
          <a:xfrm>
            <a:off x="6196285" y="4216645"/>
            <a:ext cx="5259066" cy="2441406"/>
          </a:xfrm>
          <a:prstGeom prst="roundRect">
            <a:avLst/>
          </a:prstGeom>
          <a:solidFill>
            <a:srgbClr val="FFC6A0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圆角矩形 59">
            <a:extLst>
              <a:ext uri="{FF2B5EF4-FFF2-40B4-BE49-F238E27FC236}">
                <a16:creationId xmlns:a16="http://schemas.microsoft.com/office/drawing/2014/main" id="{1476B677-5D92-616A-0EBC-E20277583836}"/>
              </a:ext>
            </a:extLst>
          </p:cNvPr>
          <p:cNvSpPr/>
          <p:nvPr/>
        </p:nvSpPr>
        <p:spPr>
          <a:xfrm flipV="1">
            <a:off x="1031745" y="4216645"/>
            <a:ext cx="4896886" cy="2441406"/>
          </a:xfrm>
          <a:prstGeom prst="roundRect">
            <a:avLst/>
          </a:prstGeom>
          <a:solidFill>
            <a:srgbClr val="CFC0E6"/>
          </a:solidFill>
          <a:ln>
            <a:noFill/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52E951D-D38D-8E4A-5381-B78E30FF7DBD}"/>
              </a:ext>
            </a:extLst>
          </p:cNvPr>
          <p:cNvSpPr txBox="1"/>
          <p:nvPr/>
        </p:nvSpPr>
        <p:spPr>
          <a:xfrm>
            <a:off x="2088208" y="4282794"/>
            <a:ext cx="2633027" cy="39909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load image &amp; mask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0D773049-43C2-CF70-A8A8-D25671EF33E5}"/>
              </a:ext>
            </a:extLst>
          </p:cNvPr>
          <p:cNvSpPr txBox="1"/>
          <p:nvPr/>
        </p:nvSpPr>
        <p:spPr>
          <a:xfrm>
            <a:off x="1965337" y="4774551"/>
            <a:ext cx="263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check sum(WT) &gt; 0 </a:t>
            </a:r>
            <a:r>
              <a:rPr lang="zh-CN" altLang="en-US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？</a:t>
            </a:r>
            <a:endParaRPr lang="en-US" altLang="zh-CN" b="1" dirty="0">
              <a:solidFill>
                <a:srgbClr val="000000"/>
              </a:solidFill>
              <a:latin typeface="Cascadia Code" panose="020B0609020000020004" charset="0"/>
              <a:ea typeface="Inter"/>
              <a:cs typeface="Cascadia Code" panose="020B060902000002000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C19FCF6B-D723-FE67-85D0-CA219D9563C3}"/>
              </a:ext>
            </a:extLst>
          </p:cNvPr>
          <p:cNvSpPr txBox="1"/>
          <p:nvPr/>
        </p:nvSpPr>
        <p:spPr>
          <a:xfrm>
            <a:off x="1168461" y="5290860"/>
            <a:ext cx="431038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calculate bounding box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&amp; add perturbation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8D515463-FFAC-F795-6281-D7B76CAC6E63}"/>
              </a:ext>
            </a:extLst>
          </p:cNvPr>
          <p:cNvSpPr txBox="1"/>
          <p:nvPr/>
        </p:nvSpPr>
        <p:spPr>
          <a:xfrm>
            <a:off x="1543819" y="6084169"/>
            <a:ext cx="387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predict and calculate Loss</a:t>
            </a:r>
          </a:p>
        </p:txBody>
      </p: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07C11B5A-5D25-0218-384F-9C6F44FBF42A}"/>
              </a:ext>
            </a:extLst>
          </p:cNvPr>
          <p:cNvCxnSpPr>
            <a:cxnSpLocks/>
          </p:cNvCxnSpPr>
          <p:nvPr/>
        </p:nvCxnSpPr>
        <p:spPr>
          <a:xfrm>
            <a:off x="3180250" y="5937191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B0AEBB07-41B7-45AB-F649-2D090FACF0EF}"/>
              </a:ext>
            </a:extLst>
          </p:cNvPr>
          <p:cNvCxnSpPr>
            <a:cxnSpLocks/>
          </p:cNvCxnSpPr>
          <p:nvPr/>
        </p:nvCxnSpPr>
        <p:spPr>
          <a:xfrm>
            <a:off x="3180250" y="4659232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8AA6C6CA-0BD3-92D8-A2B6-3908B702AA8A}"/>
              </a:ext>
            </a:extLst>
          </p:cNvPr>
          <p:cNvCxnSpPr>
            <a:cxnSpLocks/>
          </p:cNvCxnSpPr>
          <p:nvPr/>
        </p:nvCxnSpPr>
        <p:spPr>
          <a:xfrm>
            <a:off x="3180250" y="5143883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4" name="图片 163" descr="加载">
            <a:extLst>
              <a:ext uri="{FF2B5EF4-FFF2-40B4-BE49-F238E27FC236}">
                <a16:creationId xmlns:a16="http://schemas.microsoft.com/office/drawing/2014/main" id="{5BE9F8FB-37DA-88F4-6849-464A9306F6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4585" y="4272281"/>
            <a:ext cx="440690" cy="440690"/>
          </a:xfrm>
          <a:prstGeom prst="rect">
            <a:avLst/>
          </a:prstGeom>
        </p:spPr>
      </p:pic>
      <p:pic>
        <p:nvPicPr>
          <p:cNvPr id="166" name="图片 165" descr="噪声">
            <a:extLst>
              <a:ext uri="{FF2B5EF4-FFF2-40B4-BE49-F238E27FC236}">
                <a16:creationId xmlns:a16="http://schemas.microsoft.com/office/drawing/2014/main" id="{220A9231-FF51-0E4C-DA9F-E628E40CCB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6928" y="5461912"/>
            <a:ext cx="475279" cy="475279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83A923D5-32FB-9A48-11C2-ABD9A7202C09}"/>
              </a:ext>
            </a:extLst>
          </p:cNvPr>
          <p:cNvSpPr txBox="1"/>
          <p:nvPr/>
        </p:nvSpPr>
        <p:spPr>
          <a:xfrm>
            <a:off x="7146633" y="3827002"/>
            <a:ext cx="3521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Inference &amp; Evaluation</a:t>
            </a:r>
          </a:p>
        </p:txBody>
      </p:sp>
      <p:pic>
        <p:nvPicPr>
          <p:cNvPr id="168" name="图片 167" descr="肿瘤科">
            <a:extLst>
              <a:ext uri="{FF2B5EF4-FFF2-40B4-BE49-F238E27FC236}">
                <a16:creationId xmlns:a16="http://schemas.microsoft.com/office/drawing/2014/main" id="{5FF43601-9815-F8A1-94F3-E441104EC7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8617" y="4185821"/>
            <a:ext cx="773430" cy="773430"/>
          </a:xfrm>
          <a:prstGeom prst="rect">
            <a:avLst/>
          </a:prstGeom>
        </p:spPr>
      </p:pic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FEF21DD0-7A68-BE95-CC7C-8535F5715AEB}"/>
              </a:ext>
            </a:extLst>
          </p:cNvPr>
          <p:cNvGrpSpPr/>
          <p:nvPr/>
        </p:nvGrpSpPr>
        <p:grpSpPr>
          <a:xfrm>
            <a:off x="6630623" y="4346227"/>
            <a:ext cx="4361815" cy="1310005"/>
            <a:chOff x="5914" y="8168"/>
            <a:chExt cx="6869" cy="2063"/>
          </a:xfrm>
        </p:grpSpPr>
        <p:sp>
          <p:nvSpPr>
            <p:cNvPr id="170" name="圆角矩形 64">
              <a:extLst>
                <a:ext uri="{FF2B5EF4-FFF2-40B4-BE49-F238E27FC236}">
                  <a16:creationId xmlns:a16="http://schemas.microsoft.com/office/drawing/2014/main" id="{87E4C1CC-FCF2-8971-A107-2CEB2032D23F}"/>
                </a:ext>
              </a:extLst>
            </p:cNvPr>
            <p:cNvSpPr/>
            <p:nvPr/>
          </p:nvSpPr>
          <p:spPr>
            <a:xfrm>
              <a:off x="6058" y="9409"/>
              <a:ext cx="2124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圆角矩形 66">
              <a:extLst>
                <a:ext uri="{FF2B5EF4-FFF2-40B4-BE49-F238E27FC236}">
                  <a16:creationId xmlns:a16="http://schemas.microsoft.com/office/drawing/2014/main" id="{ED07A74B-A2A0-5F9A-893F-66C02B8401FD}"/>
                </a:ext>
              </a:extLst>
            </p:cNvPr>
            <p:cNvSpPr/>
            <p:nvPr/>
          </p:nvSpPr>
          <p:spPr>
            <a:xfrm>
              <a:off x="8341" y="9409"/>
              <a:ext cx="2119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圆角矩形 68">
              <a:extLst>
                <a:ext uri="{FF2B5EF4-FFF2-40B4-BE49-F238E27FC236}">
                  <a16:creationId xmlns:a16="http://schemas.microsoft.com/office/drawing/2014/main" id="{BD553E8E-5121-106E-8B65-5F97F88A1AEC}"/>
                </a:ext>
              </a:extLst>
            </p:cNvPr>
            <p:cNvSpPr/>
            <p:nvPr/>
          </p:nvSpPr>
          <p:spPr>
            <a:xfrm>
              <a:off x="10606" y="9409"/>
              <a:ext cx="2061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EF6C49A2-FCBD-0DE2-612F-666613DF8584}"/>
                </a:ext>
              </a:extLst>
            </p:cNvPr>
            <p:cNvGrpSpPr/>
            <p:nvPr/>
          </p:nvGrpSpPr>
          <p:grpSpPr>
            <a:xfrm>
              <a:off x="5914" y="8168"/>
              <a:ext cx="6869" cy="2063"/>
              <a:chOff x="6588" y="8202"/>
              <a:chExt cx="6869" cy="2063"/>
            </a:xfrm>
          </p:grpSpPr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9BC5A280-7A59-83C8-71C4-1A9DEB25DD86}"/>
                  </a:ext>
                </a:extLst>
              </p:cNvPr>
              <p:cNvSpPr txBox="1"/>
              <p:nvPr/>
            </p:nvSpPr>
            <p:spPr>
              <a:xfrm>
                <a:off x="8733" y="8202"/>
                <a:ext cx="2350" cy="58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inference</a:t>
                </a:r>
              </a:p>
            </p:txBody>
          </p: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8CC4B05B-340F-9756-CAEC-DE5051574A46}"/>
                  </a:ext>
                </a:extLst>
              </p:cNvPr>
              <p:cNvCxnSpPr/>
              <p:nvPr/>
            </p:nvCxnSpPr>
            <p:spPr>
              <a:xfrm>
                <a:off x="10370" y="8775"/>
                <a:ext cx="910" cy="526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A6FB1104-C604-945A-B4F8-4FA4187D9AD8}"/>
                  </a:ext>
                </a:extLst>
              </p:cNvPr>
              <p:cNvCxnSpPr/>
              <p:nvPr/>
            </p:nvCxnSpPr>
            <p:spPr>
              <a:xfrm flipH="1">
                <a:off x="8366" y="8764"/>
                <a:ext cx="865" cy="577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02CFBF71-0B5B-AC41-DB32-863E28614ADB}"/>
                  </a:ext>
                </a:extLst>
              </p:cNvPr>
              <p:cNvCxnSpPr/>
              <p:nvPr/>
            </p:nvCxnSpPr>
            <p:spPr>
              <a:xfrm>
                <a:off x="9780" y="8775"/>
                <a:ext cx="11" cy="523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938E11EC-0639-66D5-67C6-C6963E0A4D4D}"/>
                  </a:ext>
                </a:extLst>
              </p:cNvPr>
              <p:cNvSpPr txBox="1"/>
              <p:nvPr/>
            </p:nvSpPr>
            <p:spPr>
              <a:xfrm>
                <a:off x="6588" y="9443"/>
                <a:ext cx="2427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</a:rPr>
                  <a:t>WT Segmentation</a:t>
                </a: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CD851828-0487-5078-D334-8AA9D83D0BC4}"/>
                  </a:ext>
                </a:extLst>
              </p:cNvPr>
              <p:cNvSpPr txBox="1"/>
              <p:nvPr/>
            </p:nvSpPr>
            <p:spPr>
              <a:xfrm>
                <a:off x="8856" y="9409"/>
                <a:ext cx="2378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TC Segmentation</a:t>
                </a: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043A536C-E6D8-8B42-DCBA-8A8B26218A9C}"/>
                  </a:ext>
                </a:extLst>
              </p:cNvPr>
              <p:cNvSpPr txBox="1"/>
              <p:nvPr/>
            </p:nvSpPr>
            <p:spPr>
              <a:xfrm>
                <a:off x="11134" y="9409"/>
                <a:ext cx="2323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ET Segmentation</a:t>
                </a:r>
              </a:p>
            </p:txBody>
          </p:sp>
        </p:grpSp>
      </p:grp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9B7AD2C-C2FC-5D86-3705-D7FC21D2B173}"/>
              </a:ext>
            </a:extLst>
          </p:cNvPr>
          <p:cNvSpPr txBox="1"/>
          <p:nvPr/>
        </p:nvSpPr>
        <p:spPr>
          <a:xfrm>
            <a:off x="7932563" y="5788063"/>
            <a:ext cx="164827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Evaluation</a:t>
            </a:r>
          </a:p>
        </p:txBody>
      </p:sp>
      <p:sp>
        <p:nvSpPr>
          <p:cNvPr id="184" name="圆角矩形 42">
            <a:extLst>
              <a:ext uri="{FF2B5EF4-FFF2-40B4-BE49-F238E27FC236}">
                <a16:creationId xmlns:a16="http://schemas.microsoft.com/office/drawing/2014/main" id="{1988BFEB-7797-C544-5D43-F167F74ED72D}"/>
              </a:ext>
            </a:extLst>
          </p:cNvPr>
          <p:cNvSpPr/>
          <p:nvPr/>
        </p:nvSpPr>
        <p:spPr>
          <a:xfrm>
            <a:off x="8088138" y="6249608"/>
            <a:ext cx="1181100" cy="316230"/>
          </a:xfrm>
          <a:prstGeom prst="roundRect">
            <a:avLst/>
          </a:prstGeom>
          <a:solidFill>
            <a:srgbClr val="2C2C2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48633FF-BE5F-7513-1613-60619E03B419}"/>
              </a:ext>
            </a:extLst>
          </p:cNvPr>
          <p:cNvSpPr txBox="1"/>
          <p:nvPr/>
        </p:nvSpPr>
        <p:spPr>
          <a:xfrm>
            <a:off x="8101378" y="6228653"/>
            <a:ext cx="131064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Dice Score</a:t>
            </a:r>
            <a:r>
              <a:rPr lang="en-US" altLang="zh-CN" sz="1600" dirty="0"/>
              <a:t> 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518C9C1-5BFB-33A1-2DAE-A5B44ABD39B1}"/>
              </a:ext>
            </a:extLst>
          </p:cNvPr>
          <p:cNvSpPr/>
          <p:nvPr/>
        </p:nvSpPr>
        <p:spPr>
          <a:xfrm>
            <a:off x="-131975" y="-131636"/>
            <a:ext cx="12792173" cy="7268066"/>
          </a:xfrm>
          <a:custGeom>
            <a:avLst/>
            <a:gdLst>
              <a:gd name="connsiteX0" fmla="*/ 1008847 w 12792173"/>
              <a:gd name="connsiteY0" fmla="*/ 3957619 h 7268066"/>
              <a:gd name="connsiteX1" fmla="*/ 1008847 w 12792173"/>
              <a:gd name="connsiteY1" fmla="*/ 6988617 h 7268066"/>
              <a:gd name="connsiteX2" fmla="*/ 6172073 w 12792173"/>
              <a:gd name="connsiteY2" fmla="*/ 6988617 h 7268066"/>
              <a:gd name="connsiteX3" fmla="*/ 6172073 w 12792173"/>
              <a:gd name="connsiteY3" fmla="*/ 3957619 h 7268066"/>
              <a:gd name="connsiteX4" fmla="*/ 0 w 12792173"/>
              <a:gd name="connsiteY4" fmla="*/ 0 h 7268066"/>
              <a:gd name="connsiteX5" fmla="*/ 12792173 w 12792173"/>
              <a:gd name="connsiteY5" fmla="*/ 0 h 7268066"/>
              <a:gd name="connsiteX6" fmla="*/ 12792173 w 12792173"/>
              <a:gd name="connsiteY6" fmla="*/ 7268066 h 7268066"/>
              <a:gd name="connsiteX7" fmla="*/ 0 w 12792173"/>
              <a:gd name="connsiteY7" fmla="*/ 7268066 h 7268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92173" h="7268066">
                <a:moveTo>
                  <a:pt x="1008847" y="3957619"/>
                </a:moveTo>
                <a:lnTo>
                  <a:pt x="1008847" y="6988617"/>
                </a:lnTo>
                <a:lnTo>
                  <a:pt x="6172073" y="6988617"/>
                </a:lnTo>
                <a:lnTo>
                  <a:pt x="6172073" y="3957619"/>
                </a:lnTo>
                <a:close/>
                <a:moveTo>
                  <a:pt x="0" y="0"/>
                </a:moveTo>
                <a:lnTo>
                  <a:pt x="12792173" y="0"/>
                </a:lnTo>
                <a:lnTo>
                  <a:pt x="12792173" y="7268066"/>
                </a:lnTo>
                <a:lnTo>
                  <a:pt x="0" y="7268066"/>
                </a:lnTo>
                <a:close/>
              </a:path>
            </a:pathLst>
          </a:custGeom>
          <a:solidFill>
            <a:srgbClr val="6B6B6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022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F71117-56CF-19A0-6856-76C6A2BE4020}"/>
              </a:ext>
            </a:extLst>
          </p:cNvPr>
          <p:cNvSpPr txBox="1"/>
          <p:nvPr/>
        </p:nvSpPr>
        <p:spPr>
          <a:xfrm>
            <a:off x="169585" y="146595"/>
            <a:ext cx="22839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ascadia Code" panose="020B0609020000020004" charset="0"/>
                <a:ea typeface="+mj-ea"/>
                <a:cs typeface="Cascadia Code" panose="020B0609020000020004" charset="0"/>
              </a:rPr>
              <a:t>4. </a:t>
            </a:r>
            <a:r>
              <a:rPr lang="en-US" altLang="zh-CN" sz="240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Train</a:t>
            </a:r>
            <a:endParaRPr lang="en-US" altLang="zh-CN" sz="2400" dirty="0">
              <a:latin typeface="Cascadia Code" panose="020B0609020000020004" charset="0"/>
              <a:ea typeface="+mj-ea"/>
              <a:cs typeface="Cascadia Code" panose="020B060902000002000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2985017-B030-4A76-7658-9B1116ED3060}"/>
              </a:ext>
            </a:extLst>
          </p:cNvPr>
          <p:cNvGrpSpPr/>
          <p:nvPr/>
        </p:nvGrpSpPr>
        <p:grpSpPr>
          <a:xfrm>
            <a:off x="2506526" y="1475784"/>
            <a:ext cx="265955" cy="1849584"/>
            <a:chOff x="3986782" y="4558167"/>
            <a:chExt cx="265955" cy="184958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0B0AAF5-06BF-D3F5-E4D5-F43A12A3DE85}"/>
                </a:ext>
              </a:extLst>
            </p:cNvPr>
            <p:cNvSpPr/>
            <p:nvPr/>
          </p:nvSpPr>
          <p:spPr>
            <a:xfrm>
              <a:off x="3986782" y="494995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E5F8186-21D1-6BC6-92F0-F80815B7E1EF}"/>
                </a:ext>
              </a:extLst>
            </p:cNvPr>
            <p:cNvSpPr/>
            <p:nvPr/>
          </p:nvSpPr>
          <p:spPr>
            <a:xfrm>
              <a:off x="3986782" y="5343823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64088F7-61DC-A5C6-46E0-5FE89E2E399A}"/>
                </a:ext>
              </a:extLst>
            </p:cNvPr>
            <p:cNvSpPr/>
            <p:nvPr/>
          </p:nvSpPr>
          <p:spPr>
            <a:xfrm>
              <a:off x="3986782" y="5737694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188DCD0-D5A3-B107-0606-C67278F4299C}"/>
                </a:ext>
              </a:extLst>
            </p:cNvPr>
            <p:cNvSpPr/>
            <p:nvPr/>
          </p:nvSpPr>
          <p:spPr>
            <a:xfrm>
              <a:off x="3986782" y="613529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1FD7C2C-304C-CEC3-7E51-C9B3B389E9CA}"/>
                </a:ext>
              </a:extLst>
            </p:cNvPr>
            <p:cNvSpPr/>
            <p:nvPr/>
          </p:nvSpPr>
          <p:spPr>
            <a:xfrm>
              <a:off x="3986782" y="4558167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1057DD64-AC44-6CBF-72BA-DC6E3D8268DE}"/>
              </a:ext>
            </a:extLst>
          </p:cNvPr>
          <p:cNvSpPr txBox="1"/>
          <p:nvPr/>
        </p:nvSpPr>
        <p:spPr>
          <a:xfrm>
            <a:off x="673354" y="947254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Encoding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4D7BEFB-D3E9-C4FA-70C2-910C931D57E3}"/>
              </a:ext>
            </a:extLst>
          </p:cNvPr>
          <p:cNvCxnSpPr/>
          <p:nvPr/>
        </p:nvCxnSpPr>
        <p:spPr>
          <a:xfrm flipV="1">
            <a:off x="1868424" y="2382076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57FBFEB-6748-A968-146F-192D09B21DD4}"/>
              </a:ext>
            </a:extLst>
          </p:cNvPr>
          <p:cNvSpPr txBox="1"/>
          <p:nvPr/>
        </p:nvSpPr>
        <p:spPr>
          <a:xfrm>
            <a:off x="1444433" y="3367116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Embedding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169A6AF-6D5C-920B-D765-E69BDBFF2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49" y="1790739"/>
            <a:ext cx="1344889" cy="1344889"/>
          </a:xfrm>
          <a:prstGeom prst="rect">
            <a:avLst/>
          </a:prstGeom>
        </p:spPr>
      </p:pic>
      <p:sp>
        <p:nvSpPr>
          <p:cNvPr id="21" name="AutoShape 8">
            <a:extLst>
              <a:ext uri="{FF2B5EF4-FFF2-40B4-BE49-F238E27FC236}">
                <a16:creationId xmlns:a16="http://schemas.microsoft.com/office/drawing/2014/main" id="{B32D9C54-20C4-3C63-F2F9-1A0DF9A835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360D20D-DC27-530F-F864-879770D87FFC}"/>
              </a:ext>
            </a:extLst>
          </p:cNvPr>
          <p:cNvGrpSpPr/>
          <p:nvPr/>
        </p:nvGrpSpPr>
        <p:grpSpPr>
          <a:xfrm>
            <a:off x="4109715" y="525468"/>
            <a:ext cx="2011749" cy="3875430"/>
            <a:chOff x="4236651" y="601973"/>
            <a:chExt cx="2011749" cy="3875430"/>
          </a:xfrm>
        </p:grpSpPr>
        <p:sp>
          <p:nvSpPr>
            <p:cNvPr id="19" name="AutoShape 6">
              <a:extLst>
                <a:ext uri="{FF2B5EF4-FFF2-40B4-BE49-F238E27FC236}">
                  <a16:creationId xmlns:a16="http://schemas.microsoft.com/office/drawing/2014/main" id="{6E4A7509-9F88-FBA8-E4D4-0F1D4CE710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ECB0A763-D7F0-C04E-CCD1-55E6BB74A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326" y="601973"/>
              <a:ext cx="1188766" cy="1188766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6F957CCB-92CB-BEDA-5EF4-C6BD76678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54326" y="1946861"/>
              <a:ext cx="1188767" cy="1188767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5A6757EB-6589-D380-A301-9732AF4C2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36651" y="3288637"/>
              <a:ext cx="1188766" cy="1188766"/>
            </a:xfrm>
            <a:prstGeom prst="rect">
              <a:avLst/>
            </a:prstGeom>
          </p:spPr>
        </p:pic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3EA873A-5B87-681A-3EB4-39A4FB7532F8}"/>
              </a:ext>
            </a:extLst>
          </p:cNvPr>
          <p:cNvCxnSpPr/>
          <p:nvPr/>
        </p:nvCxnSpPr>
        <p:spPr>
          <a:xfrm flipV="1">
            <a:off x="5439474" y="1116150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D9C96EA-3CF0-D524-AB40-B3B51D507E23}"/>
              </a:ext>
            </a:extLst>
          </p:cNvPr>
          <p:cNvCxnSpPr/>
          <p:nvPr/>
        </p:nvCxnSpPr>
        <p:spPr>
          <a:xfrm flipV="1">
            <a:off x="5439474" y="2401457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12F4C6F-80E5-2F88-A18F-D04F660DEAA4}"/>
              </a:ext>
            </a:extLst>
          </p:cNvPr>
          <p:cNvCxnSpPr/>
          <p:nvPr/>
        </p:nvCxnSpPr>
        <p:spPr>
          <a:xfrm flipV="1">
            <a:off x="5447128" y="3803975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1" name="图片 30" descr="噪声">
            <a:extLst>
              <a:ext uri="{FF2B5EF4-FFF2-40B4-BE49-F238E27FC236}">
                <a16:creationId xmlns:a16="http://schemas.microsoft.com/office/drawing/2014/main" id="{F4DA6F29-95E7-501C-0270-3F861906A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899" y="652917"/>
            <a:ext cx="459165" cy="459165"/>
          </a:xfrm>
          <a:prstGeom prst="rect">
            <a:avLst/>
          </a:prstGeom>
        </p:spPr>
      </p:pic>
      <p:pic>
        <p:nvPicPr>
          <p:cNvPr id="32" name="图片 31" descr="噪声">
            <a:extLst>
              <a:ext uri="{FF2B5EF4-FFF2-40B4-BE49-F238E27FC236}">
                <a16:creationId xmlns:a16="http://schemas.microsoft.com/office/drawing/2014/main" id="{5294F7A6-59F3-4DDE-5992-7C0B9B1B3C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3785" y="1896861"/>
            <a:ext cx="475279" cy="475279"/>
          </a:xfrm>
          <a:prstGeom prst="rect">
            <a:avLst/>
          </a:prstGeom>
        </p:spPr>
      </p:pic>
      <p:pic>
        <p:nvPicPr>
          <p:cNvPr id="33" name="图片 32" descr="噪声">
            <a:extLst>
              <a:ext uri="{FF2B5EF4-FFF2-40B4-BE49-F238E27FC236}">
                <a16:creationId xmlns:a16="http://schemas.microsoft.com/office/drawing/2014/main" id="{D73AA8F6-2F57-BF8C-7A26-4D269BA8F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6629" y="3258521"/>
            <a:ext cx="475279" cy="475279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79C951-AA5A-E7DF-7AB3-CD4BA7CA8888}"/>
              </a:ext>
            </a:extLst>
          </p:cNvPr>
          <p:cNvSpPr/>
          <p:nvPr/>
        </p:nvSpPr>
        <p:spPr>
          <a:xfrm>
            <a:off x="4514615" y="755436"/>
            <a:ext cx="551992" cy="387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E98BD4F-015A-9B09-5DB9-F8FFB9CFD99C}"/>
              </a:ext>
            </a:extLst>
          </p:cNvPr>
          <p:cNvSpPr/>
          <p:nvPr/>
        </p:nvSpPr>
        <p:spPr>
          <a:xfrm flipV="1">
            <a:off x="4642265" y="2102166"/>
            <a:ext cx="240820" cy="2699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0F77FE0-06AE-0700-0301-22A53E97BFDA}"/>
              </a:ext>
            </a:extLst>
          </p:cNvPr>
          <p:cNvSpPr/>
          <p:nvPr/>
        </p:nvSpPr>
        <p:spPr>
          <a:xfrm>
            <a:off x="4607089" y="3482571"/>
            <a:ext cx="275996" cy="1750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C46AD3F-6290-E22B-15F7-D42F13101EB2}"/>
              </a:ext>
            </a:extLst>
          </p:cNvPr>
          <p:cNvSpPr txBox="1"/>
          <p:nvPr/>
        </p:nvSpPr>
        <p:spPr>
          <a:xfrm>
            <a:off x="3484118" y="958753"/>
            <a:ext cx="449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scadia Code" panose="020B0609020000020004" charset="0"/>
                <a:cs typeface="Cascadia Code" panose="020B0609020000020004" charset="0"/>
              </a:rPr>
              <a:t>WT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165DBA5-593F-1E50-DD39-FE734C4C202F}"/>
              </a:ext>
            </a:extLst>
          </p:cNvPr>
          <p:cNvSpPr txBox="1"/>
          <p:nvPr/>
        </p:nvSpPr>
        <p:spPr>
          <a:xfrm>
            <a:off x="3484118" y="2279033"/>
            <a:ext cx="449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scadia Code" panose="020B0609020000020004" charset="0"/>
                <a:cs typeface="Cascadia Code" panose="020B0609020000020004" charset="0"/>
              </a:rPr>
              <a:t>TC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B731921-5BAD-1244-E172-2291E7BF308F}"/>
              </a:ext>
            </a:extLst>
          </p:cNvPr>
          <p:cNvSpPr txBox="1"/>
          <p:nvPr/>
        </p:nvSpPr>
        <p:spPr>
          <a:xfrm>
            <a:off x="3484118" y="3604813"/>
            <a:ext cx="449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scadia Code" panose="020B0609020000020004" charset="0"/>
                <a:cs typeface="Cascadia Code" panose="020B0609020000020004" charset="0"/>
              </a:rPr>
              <a:t>ET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72AF46-8E3C-ACD1-FDB5-292A4287F9F8}"/>
              </a:ext>
            </a:extLst>
          </p:cNvPr>
          <p:cNvSpPr/>
          <p:nvPr/>
        </p:nvSpPr>
        <p:spPr>
          <a:xfrm>
            <a:off x="6086381" y="958753"/>
            <a:ext cx="551992" cy="38746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054CCF4-6379-1F85-E067-3EAA9BFF1E1B}"/>
              </a:ext>
            </a:extLst>
          </p:cNvPr>
          <p:cNvSpPr/>
          <p:nvPr/>
        </p:nvSpPr>
        <p:spPr>
          <a:xfrm flipV="1">
            <a:off x="6241967" y="2328196"/>
            <a:ext cx="240820" cy="26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C20E855-639F-2BAE-3551-0730F5DB4D4D}"/>
              </a:ext>
            </a:extLst>
          </p:cNvPr>
          <p:cNvSpPr/>
          <p:nvPr/>
        </p:nvSpPr>
        <p:spPr>
          <a:xfrm>
            <a:off x="6224379" y="3733800"/>
            <a:ext cx="275996" cy="17503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87FE02C-CDCB-DCAD-32E3-6221E8B4BD09}"/>
              </a:ext>
            </a:extLst>
          </p:cNvPr>
          <p:cNvSpPr txBox="1"/>
          <p:nvPr/>
        </p:nvSpPr>
        <p:spPr>
          <a:xfrm>
            <a:off x="5316156" y="348769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Prompt box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BEECA868-8721-85E4-2158-95DA4E3CE9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6697" t="7662" r="882" b="2131"/>
          <a:stretch/>
        </p:blipFill>
        <p:spPr>
          <a:xfrm>
            <a:off x="9896437" y="347350"/>
            <a:ext cx="1520873" cy="4231664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5A0E5658-C31F-F2F9-9F65-CBC105045423}"/>
              </a:ext>
            </a:extLst>
          </p:cNvPr>
          <p:cNvSpPr txBox="1"/>
          <p:nvPr/>
        </p:nvSpPr>
        <p:spPr>
          <a:xfrm>
            <a:off x="6803171" y="2187473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Generation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A318C51-2666-73C7-DCAE-8DF3EA404FE7}"/>
              </a:ext>
            </a:extLst>
          </p:cNvPr>
          <p:cNvCxnSpPr>
            <a:cxnSpLocks/>
          </p:cNvCxnSpPr>
          <p:nvPr/>
        </p:nvCxnSpPr>
        <p:spPr>
          <a:xfrm flipV="1">
            <a:off x="7998241" y="1112082"/>
            <a:ext cx="1167406" cy="99008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74AC71C-7C05-2791-9B9A-17B1A9EDD0EA}"/>
              </a:ext>
            </a:extLst>
          </p:cNvPr>
          <p:cNvCxnSpPr>
            <a:cxnSpLocks/>
          </p:cNvCxnSpPr>
          <p:nvPr/>
        </p:nvCxnSpPr>
        <p:spPr>
          <a:xfrm>
            <a:off x="8003281" y="2860629"/>
            <a:ext cx="1093585" cy="1165548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0E3288A-600F-B1AD-F6EF-04141F8273D2}"/>
              </a:ext>
            </a:extLst>
          </p:cNvPr>
          <p:cNvCxnSpPr/>
          <p:nvPr/>
        </p:nvCxnSpPr>
        <p:spPr>
          <a:xfrm flipV="1">
            <a:off x="9288916" y="2382076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C0C4EB2D-ED98-1BCA-8875-C21F5CB042EF}"/>
              </a:ext>
            </a:extLst>
          </p:cNvPr>
          <p:cNvSpPr txBox="1"/>
          <p:nvPr/>
        </p:nvSpPr>
        <p:spPr>
          <a:xfrm>
            <a:off x="302649" y="4783167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Calculate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CE23E14-C53B-4FD2-2EDF-BD4F100CB175}"/>
                  </a:ext>
                </a:extLst>
              </p:cNvPr>
              <p:cNvSpPr txBox="1"/>
              <p:nvPr/>
            </p:nvSpPr>
            <p:spPr>
              <a:xfrm>
                <a:off x="2469214" y="5419435"/>
                <a:ext cx="2532296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𝐵𝐶𝐸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𝐷𝑖𝑐𝑒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CE23E14-C53B-4FD2-2EDF-BD4F100CB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214" y="5419435"/>
                <a:ext cx="2532296" cy="5186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3309CA2-136A-DC08-DD40-AABDDC46D38A}"/>
                  </a:ext>
                </a:extLst>
              </p:cNvPr>
              <p:cNvSpPr txBox="1"/>
              <p:nvPr/>
            </p:nvSpPr>
            <p:spPr>
              <a:xfrm>
                <a:off x="5842203" y="4861592"/>
                <a:ext cx="5791585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𝐵𝐶𝐸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+(1−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fun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3309CA2-136A-DC08-DD40-AABDDC46D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203" y="4861592"/>
                <a:ext cx="5791585" cy="7789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60ACA22-52BF-5857-1F90-D0E39478F96C}"/>
                  </a:ext>
                </a:extLst>
              </p:cNvPr>
              <p:cNvSpPr txBox="1"/>
              <p:nvPr/>
            </p:nvSpPr>
            <p:spPr>
              <a:xfrm>
                <a:off x="5842203" y="5861781"/>
                <a:ext cx="3446713" cy="6383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𝐷𝑖𝑐𝑒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=1 −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60ACA22-52BF-5857-1F90-D0E39478F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203" y="5861781"/>
                <a:ext cx="3446713" cy="6383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14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3">
            <a:extLst>
              <a:ext uri="{FF2B5EF4-FFF2-40B4-BE49-F238E27FC236}">
                <a16:creationId xmlns:a16="http://schemas.microsoft.com/office/drawing/2014/main" id="{2C98762E-BE92-42D9-8566-4D9458AF17E7}"/>
              </a:ext>
            </a:extLst>
          </p:cNvPr>
          <p:cNvSpPr/>
          <p:nvPr/>
        </p:nvSpPr>
        <p:spPr>
          <a:xfrm>
            <a:off x="1031745" y="635617"/>
            <a:ext cx="4411980" cy="31661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8C1AA7-989A-252A-32A3-DF9C8602EB6B}"/>
              </a:ext>
            </a:extLst>
          </p:cNvPr>
          <p:cNvSpPr txBox="1"/>
          <p:nvPr/>
        </p:nvSpPr>
        <p:spPr>
          <a:xfrm>
            <a:off x="1678022" y="198415"/>
            <a:ext cx="3119425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D</a:t>
            </a: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ata </a:t>
            </a:r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</a:t>
            </a: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reprocessing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05E3A1-719F-B9DA-B22A-DDB6EDFB1735}"/>
              </a:ext>
            </a:extLst>
          </p:cNvPr>
          <p:cNvSpPr txBox="1"/>
          <p:nvPr/>
        </p:nvSpPr>
        <p:spPr>
          <a:xfrm>
            <a:off x="1192723" y="784972"/>
            <a:ext cx="2373630" cy="3168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Construction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A12655E-8752-98F9-031E-16148C28EDFA}"/>
              </a:ext>
            </a:extLst>
          </p:cNvPr>
          <p:cNvGrpSpPr/>
          <p:nvPr/>
        </p:nvGrpSpPr>
        <p:grpSpPr>
          <a:xfrm>
            <a:off x="432213" y="1528726"/>
            <a:ext cx="2360930" cy="2157730"/>
            <a:chOff x="12253" y="3010"/>
            <a:chExt cx="3810" cy="3810"/>
          </a:xfrm>
        </p:grpSpPr>
        <p:pic>
          <p:nvPicPr>
            <p:cNvPr id="83" name="图片 82" descr="3个点">
              <a:extLst>
                <a:ext uri="{FF2B5EF4-FFF2-40B4-BE49-F238E27FC236}">
                  <a16:creationId xmlns:a16="http://schemas.microsoft.com/office/drawing/2014/main" id="{84F10D3A-7630-EEAC-F711-59FDACDFB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53" y="3010"/>
              <a:ext cx="3810" cy="3810"/>
            </a:xfrm>
            <a:prstGeom prst="rect">
              <a:avLst/>
            </a:prstGeom>
          </p:spPr>
        </p:pic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D7F67792-A10C-4E53-706A-1ED2925563DC}"/>
                </a:ext>
              </a:extLst>
            </p:cNvPr>
            <p:cNvSpPr txBox="1"/>
            <p:nvPr/>
          </p:nvSpPr>
          <p:spPr>
            <a:xfrm>
              <a:off x="13554" y="4659"/>
              <a:ext cx="1289" cy="52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sz="1600" b="1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FLAIR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36AA499F-A485-CB8B-433E-79710DC10D92}"/>
                </a:ext>
              </a:extLst>
            </p:cNvPr>
            <p:cNvSpPr txBox="1"/>
            <p:nvPr/>
          </p:nvSpPr>
          <p:spPr>
            <a:xfrm>
              <a:off x="13640" y="3310"/>
              <a:ext cx="1134" cy="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T1ce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6FDB143-06B8-21BA-AF93-5933D0DC02C6}"/>
                </a:ext>
              </a:extLst>
            </p:cNvPr>
            <p:cNvSpPr txBox="1"/>
            <p:nvPr/>
          </p:nvSpPr>
          <p:spPr>
            <a:xfrm>
              <a:off x="13839" y="5900"/>
              <a:ext cx="841" cy="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Cascadia Code" panose="020B0609020000020004" charset="0"/>
                  <a:ea typeface="Inter"/>
                  <a:cs typeface="Cascadia Code" panose="020B0609020000020004" charset="0"/>
                </a:rPr>
                <a:t>T2</a:t>
              </a:r>
            </a:p>
          </p:txBody>
        </p: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AF23BD75-EB65-4A57-3AA2-A3FFB8262442}"/>
              </a:ext>
            </a:extLst>
          </p:cNvPr>
          <p:cNvSpPr txBox="1"/>
          <p:nvPr/>
        </p:nvSpPr>
        <p:spPr>
          <a:xfrm>
            <a:off x="3237734" y="784972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Generation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21B0F6D2-F83D-530A-5726-EE9FAD81412C}"/>
              </a:ext>
            </a:extLst>
          </p:cNvPr>
          <p:cNvGrpSpPr/>
          <p:nvPr/>
        </p:nvGrpSpPr>
        <p:grpSpPr>
          <a:xfrm>
            <a:off x="3539677" y="1479150"/>
            <a:ext cx="2211705" cy="1905000"/>
            <a:chOff x="5998" y="3045"/>
            <a:chExt cx="3483" cy="3000"/>
          </a:xfrm>
        </p:grpSpPr>
        <p:pic>
          <p:nvPicPr>
            <p:cNvPr id="89" name="图片 88" descr="一行三列">
              <a:extLst>
                <a:ext uri="{FF2B5EF4-FFF2-40B4-BE49-F238E27FC236}">
                  <a16:creationId xmlns:a16="http://schemas.microsoft.com/office/drawing/2014/main" id="{72A6B780-C9BE-B177-856C-004784086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8" y="3045"/>
              <a:ext cx="3000" cy="3000"/>
            </a:xfrm>
            <a:prstGeom prst="rect">
              <a:avLst/>
            </a:prstGeom>
          </p:spPr>
        </p:pic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DD2A2010-00D0-E95E-F84B-9D9195C68382}"/>
                </a:ext>
              </a:extLst>
            </p:cNvPr>
            <p:cNvSpPr txBox="1"/>
            <p:nvPr/>
          </p:nvSpPr>
          <p:spPr>
            <a:xfrm>
              <a:off x="6195" y="3982"/>
              <a:ext cx="10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WT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9F2E560-E090-89AD-41F2-F0A6D92DCFBF}"/>
                </a:ext>
              </a:extLst>
            </p:cNvPr>
            <p:cNvSpPr txBox="1"/>
            <p:nvPr/>
          </p:nvSpPr>
          <p:spPr>
            <a:xfrm>
              <a:off x="7170" y="3982"/>
              <a:ext cx="8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TC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04342F37-4C61-C038-EBE6-A077B6C98946}"/>
                </a:ext>
              </a:extLst>
            </p:cNvPr>
            <p:cNvSpPr txBox="1"/>
            <p:nvPr/>
          </p:nvSpPr>
          <p:spPr>
            <a:xfrm>
              <a:off x="8093" y="3982"/>
              <a:ext cx="13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scadia Code" panose="020B0609020000020004" charset="0"/>
                  <a:cs typeface="Cascadia Code" panose="020B0609020000020004" charset="0"/>
                </a:rPr>
                <a:t>ET</a:t>
              </a:r>
            </a:p>
          </p:txBody>
        </p:sp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5C5ADBE7-F02E-37B9-A708-9FDB4B898552}"/>
              </a:ext>
            </a:extLst>
          </p:cNvPr>
          <p:cNvCxnSpPr/>
          <p:nvPr/>
        </p:nvCxnSpPr>
        <p:spPr>
          <a:xfrm flipV="1">
            <a:off x="2066795" y="2518392"/>
            <a:ext cx="52959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64E8BD7-DCDE-78D8-0BF0-55DA28C397AD}"/>
              </a:ext>
            </a:extLst>
          </p:cNvPr>
          <p:cNvSpPr txBox="1"/>
          <p:nvPr/>
        </p:nvSpPr>
        <p:spPr>
          <a:xfrm>
            <a:off x="1937890" y="2139297"/>
            <a:ext cx="833755" cy="360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i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fusion</a:t>
            </a:r>
          </a:p>
        </p:txBody>
      </p:sp>
      <p:pic>
        <p:nvPicPr>
          <p:cNvPr id="96" name="图片 95" descr="filter_svg">
            <a:extLst>
              <a:ext uri="{FF2B5EF4-FFF2-40B4-BE49-F238E27FC236}">
                <a16:creationId xmlns:a16="http://schemas.microsoft.com/office/drawing/2014/main" id="{0B92E4C8-0894-9408-13EC-3787E75BC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055" y="2171682"/>
            <a:ext cx="589280" cy="589280"/>
          </a:xfrm>
          <a:prstGeom prst="rect">
            <a:avLst/>
          </a:prstGeom>
        </p:spPr>
      </p:pic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8F3FAE1-E075-20A5-159A-2AA284F5AA33}"/>
              </a:ext>
            </a:extLst>
          </p:cNvPr>
          <p:cNvCxnSpPr/>
          <p:nvPr/>
        </p:nvCxnSpPr>
        <p:spPr>
          <a:xfrm>
            <a:off x="3462207" y="943404"/>
            <a:ext cx="0" cy="2601798"/>
          </a:xfrm>
          <a:prstGeom prst="line">
            <a:avLst/>
          </a:prstGeom>
          <a:ln w="444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68E140E0-2E6E-3BCA-072B-B7D7F35298F0}"/>
              </a:ext>
            </a:extLst>
          </p:cNvPr>
          <p:cNvSpPr txBox="1"/>
          <p:nvPr/>
        </p:nvSpPr>
        <p:spPr>
          <a:xfrm>
            <a:off x="8199635" y="198415"/>
            <a:ext cx="655955" cy="361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0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SAM</a:t>
            </a:r>
          </a:p>
        </p:txBody>
      </p:sp>
      <p:sp>
        <p:nvSpPr>
          <p:cNvPr id="100" name="圆角矩形 27">
            <a:extLst>
              <a:ext uri="{FF2B5EF4-FFF2-40B4-BE49-F238E27FC236}">
                <a16:creationId xmlns:a16="http://schemas.microsoft.com/office/drawing/2014/main" id="{4BD8A662-A500-E276-5A34-C16249E17D75}"/>
              </a:ext>
            </a:extLst>
          </p:cNvPr>
          <p:cNvSpPr/>
          <p:nvPr/>
        </p:nvSpPr>
        <p:spPr>
          <a:xfrm>
            <a:off x="5703671" y="658458"/>
            <a:ext cx="5751680" cy="3063818"/>
          </a:xfrm>
          <a:prstGeom prst="roundRect">
            <a:avLst/>
          </a:prstGeom>
          <a:solidFill>
            <a:srgbClr val="CCE2F7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F5CB352-A3A7-8973-0386-5B6D6322BED7}"/>
              </a:ext>
            </a:extLst>
          </p:cNvPr>
          <p:cNvSpPr/>
          <p:nvPr/>
        </p:nvSpPr>
        <p:spPr>
          <a:xfrm>
            <a:off x="5774330" y="1818673"/>
            <a:ext cx="1467485" cy="707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1AEAC8A-F605-2E4B-373F-749D440BD4D7}"/>
              </a:ext>
            </a:extLst>
          </p:cNvPr>
          <p:cNvSpPr txBox="1"/>
          <p:nvPr/>
        </p:nvSpPr>
        <p:spPr>
          <a:xfrm>
            <a:off x="5313002" y="1849075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Encoder</a:t>
            </a: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548BFDF-3591-EDCF-AB05-0B9218FCBD09}"/>
              </a:ext>
            </a:extLst>
          </p:cNvPr>
          <p:cNvGrpSpPr/>
          <p:nvPr/>
        </p:nvGrpSpPr>
        <p:grpSpPr>
          <a:xfrm>
            <a:off x="7733772" y="1376546"/>
            <a:ext cx="265955" cy="1849584"/>
            <a:chOff x="3986782" y="4558167"/>
            <a:chExt cx="265955" cy="1849584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BE88E06-9BBB-6F0B-E184-943595DB921B}"/>
                </a:ext>
              </a:extLst>
            </p:cNvPr>
            <p:cNvSpPr/>
            <p:nvPr/>
          </p:nvSpPr>
          <p:spPr>
            <a:xfrm>
              <a:off x="3986782" y="494995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BC7D1B8-6A42-F567-1425-E403EADEA02D}"/>
                </a:ext>
              </a:extLst>
            </p:cNvPr>
            <p:cNvSpPr/>
            <p:nvPr/>
          </p:nvSpPr>
          <p:spPr>
            <a:xfrm>
              <a:off x="3986782" y="5343823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0C42DC0C-9954-AD64-16D4-F6603ECD023E}"/>
                </a:ext>
              </a:extLst>
            </p:cNvPr>
            <p:cNvSpPr/>
            <p:nvPr/>
          </p:nvSpPr>
          <p:spPr>
            <a:xfrm>
              <a:off x="3986782" y="5737694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43FAD0EE-DB97-76A9-251C-2FAAA27FD5E7}"/>
                </a:ext>
              </a:extLst>
            </p:cNvPr>
            <p:cNvSpPr/>
            <p:nvPr/>
          </p:nvSpPr>
          <p:spPr>
            <a:xfrm>
              <a:off x="3986782" y="6135292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4C554F7-FA2E-642C-62B3-60AE57D0BCBF}"/>
                </a:ext>
              </a:extLst>
            </p:cNvPr>
            <p:cNvSpPr/>
            <p:nvPr/>
          </p:nvSpPr>
          <p:spPr>
            <a:xfrm>
              <a:off x="3986782" y="4558167"/>
              <a:ext cx="265955" cy="2724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B1F2476-DDC2-9A2A-47BF-5CB2AF34D1E2}"/>
              </a:ext>
            </a:extLst>
          </p:cNvPr>
          <p:cNvSpPr txBox="1"/>
          <p:nvPr/>
        </p:nvSpPr>
        <p:spPr>
          <a:xfrm>
            <a:off x="6671679" y="667645"/>
            <a:ext cx="2390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Image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Embedding</a:t>
            </a: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5A27374-D15A-C5FE-E233-FE8B77443B0C}"/>
              </a:ext>
            </a:extLst>
          </p:cNvPr>
          <p:cNvCxnSpPr>
            <a:cxnSpLocks/>
          </p:cNvCxnSpPr>
          <p:nvPr/>
        </p:nvCxnSpPr>
        <p:spPr>
          <a:xfrm flipV="1">
            <a:off x="7344698" y="2187827"/>
            <a:ext cx="292510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梯形 113">
            <a:extLst>
              <a:ext uri="{FF2B5EF4-FFF2-40B4-BE49-F238E27FC236}">
                <a16:creationId xmlns:a16="http://schemas.microsoft.com/office/drawing/2014/main" id="{0DF98A93-299B-7258-11E8-D0ABE86725C6}"/>
              </a:ext>
            </a:extLst>
          </p:cNvPr>
          <p:cNvSpPr/>
          <p:nvPr/>
        </p:nvSpPr>
        <p:spPr>
          <a:xfrm>
            <a:off x="8308510" y="2197872"/>
            <a:ext cx="853550" cy="417997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EFBE08C-2D4E-EC11-5E09-0E05EF770E80}"/>
              </a:ext>
            </a:extLst>
          </p:cNvPr>
          <p:cNvSpPr txBox="1"/>
          <p:nvPr/>
        </p:nvSpPr>
        <p:spPr>
          <a:xfrm>
            <a:off x="7550598" y="2231080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conv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095154E-5A1B-58F5-FF60-BF68E9F1EC8A}"/>
              </a:ext>
            </a:extLst>
          </p:cNvPr>
          <p:cNvCxnSpPr>
            <a:cxnSpLocks/>
          </p:cNvCxnSpPr>
          <p:nvPr/>
        </p:nvCxnSpPr>
        <p:spPr>
          <a:xfrm flipV="1">
            <a:off x="8127521" y="1382332"/>
            <a:ext cx="1263142" cy="254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5755913E-81C7-78F4-8F98-B8E01C45BFF7}"/>
              </a:ext>
            </a:extLst>
          </p:cNvPr>
          <p:cNvSpPr/>
          <p:nvPr/>
        </p:nvSpPr>
        <p:spPr>
          <a:xfrm>
            <a:off x="8538848" y="1188006"/>
            <a:ext cx="368640" cy="368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2D757165-EB69-3778-E056-6118A1FCBE83}"/>
              </a:ext>
            </a:extLst>
          </p:cNvPr>
          <p:cNvCxnSpPr>
            <a:cxnSpLocks/>
          </p:cNvCxnSpPr>
          <p:nvPr/>
        </p:nvCxnSpPr>
        <p:spPr>
          <a:xfrm flipH="1" flipV="1">
            <a:off x="8704462" y="2691780"/>
            <a:ext cx="2647" cy="29343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502320B3-6E02-74E1-8D49-FAD6A65EE473}"/>
              </a:ext>
            </a:extLst>
          </p:cNvPr>
          <p:cNvCxnSpPr>
            <a:cxnSpLocks/>
          </p:cNvCxnSpPr>
          <p:nvPr/>
        </p:nvCxnSpPr>
        <p:spPr>
          <a:xfrm flipV="1">
            <a:off x="8701576" y="167636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FFA711AD-4353-E262-3D62-B6A5E9E8BECE}"/>
              </a:ext>
            </a:extLst>
          </p:cNvPr>
          <p:cNvCxnSpPr>
            <a:cxnSpLocks/>
          </p:cNvCxnSpPr>
          <p:nvPr/>
        </p:nvCxnSpPr>
        <p:spPr>
          <a:xfrm>
            <a:off x="8723168" y="1174377"/>
            <a:ext cx="0" cy="365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4741183-7C42-BE06-A1DC-9D3D321006CF}"/>
              </a:ext>
            </a:extLst>
          </p:cNvPr>
          <p:cNvSpPr txBox="1"/>
          <p:nvPr/>
        </p:nvSpPr>
        <p:spPr>
          <a:xfrm>
            <a:off x="8273220" y="3023449"/>
            <a:ext cx="856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C92C9D8-4CAA-50A5-A37E-E82748B9EF60}"/>
              </a:ext>
            </a:extLst>
          </p:cNvPr>
          <p:cNvSpPr/>
          <p:nvPr/>
        </p:nvSpPr>
        <p:spPr>
          <a:xfrm>
            <a:off x="9473146" y="1150684"/>
            <a:ext cx="1819355" cy="463296"/>
          </a:xfrm>
          <a:prstGeom prst="rect">
            <a:avLst/>
          </a:prstGeom>
          <a:solidFill>
            <a:srgbClr val="EF95D7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807D496-42EB-14E9-2F41-8ACE513E6053}"/>
              </a:ext>
            </a:extLst>
          </p:cNvPr>
          <p:cNvSpPr/>
          <p:nvPr/>
        </p:nvSpPr>
        <p:spPr>
          <a:xfrm>
            <a:off x="9403384" y="2186420"/>
            <a:ext cx="1958878" cy="463296"/>
          </a:xfrm>
          <a:prstGeom prst="rect">
            <a:avLst/>
          </a:prstGeom>
          <a:solidFill>
            <a:srgbClr val="C780E4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8EB18E83-119E-1F0A-3BD1-0C2E567703EF}"/>
              </a:ext>
            </a:extLst>
          </p:cNvPr>
          <p:cNvCxnSpPr>
            <a:cxnSpLocks/>
          </p:cNvCxnSpPr>
          <p:nvPr/>
        </p:nvCxnSpPr>
        <p:spPr>
          <a:xfrm flipV="1">
            <a:off x="9707416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A0BDF5D7-D7AA-C891-142F-1D2828CE53E4}"/>
              </a:ext>
            </a:extLst>
          </p:cNvPr>
          <p:cNvCxnSpPr>
            <a:cxnSpLocks/>
          </p:cNvCxnSpPr>
          <p:nvPr/>
        </p:nvCxnSpPr>
        <p:spPr>
          <a:xfrm flipV="1">
            <a:off x="10382823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EDCD7DF7-E030-F454-051C-C99CEC9095C8}"/>
              </a:ext>
            </a:extLst>
          </p:cNvPr>
          <p:cNvCxnSpPr>
            <a:cxnSpLocks/>
          </p:cNvCxnSpPr>
          <p:nvPr/>
        </p:nvCxnSpPr>
        <p:spPr>
          <a:xfrm flipV="1">
            <a:off x="11048536" y="1645347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B6C41E3F-24AC-0AB5-50CA-036D1361311D}"/>
              </a:ext>
            </a:extLst>
          </p:cNvPr>
          <p:cNvCxnSpPr>
            <a:cxnSpLocks/>
          </p:cNvCxnSpPr>
          <p:nvPr/>
        </p:nvCxnSpPr>
        <p:spPr>
          <a:xfrm flipV="1">
            <a:off x="9731722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7299476D-8406-0049-3860-6BB50798E2C6}"/>
              </a:ext>
            </a:extLst>
          </p:cNvPr>
          <p:cNvCxnSpPr>
            <a:cxnSpLocks/>
          </p:cNvCxnSpPr>
          <p:nvPr/>
        </p:nvCxnSpPr>
        <p:spPr>
          <a:xfrm flipV="1">
            <a:off x="10407129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74A544F8-429A-C219-A613-A584F2D6D69B}"/>
              </a:ext>
            </a:extLst>
          </p:cNvPr>
          <p:cNvCxnSpPr>
            <a:cxnSpLocks/>
          </p:cNvCxnSpPr>
          <p:nvPr/>
        </p:nvCxnSpPr>
        <p:spPr>
          <a:xfrm flipV="1">
            <a:off x="11072842" y="2714531"/>
            <a:ext cx="0" cy="41649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E45EEBF-1EEE-AE75-7E70-F8D5738A4832}"/>
              </a:ext>
            </a:extLst>
          </p:cNvPr>
          <p:cNvSpPr txBox="1"/>
          <p:nvPr/>
        </p:nvSpPr>
        <p:spPr>
          <a:xfrm>
            <a:off x="9226189" y="1192805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Mask Decoder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A3937B6-3FFE-BA54-8850-6DC7CF6D45D1}"/>
              </a:ext>
            </a:extLst>
          </p:cNvPr>
          <p:cNvSpPr txBox="1"/>
          <p:nvPr/>
        </p:nvSpPr>
        <p:spPr>
          <a:xfrm>
            <a:off x="9226189" y="2239997"/>
            <a:ext cx="239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Prompt Encoder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ED5BA36-C840-D386-CEBA-DA25EE42865D}"/>
              </a:ext>
            </a:extLst>
          </p:cNvPr>
          <p:cNvSpPr txBox="1"/>
          <p:nvPr/>
        </p:nvSpPr>
        <p:spPr>
          <a:xfrm>
            <a:off x="9162060" y="3077288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points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EF6F931-7BA8-6081-2FE7-8E7AD0FD1208}"/>
              </a:ext>
            </a:extLst>
          </p:cNvPr>
          <p:cNvSpPr txBox="1"/>
          <p:nvPr/>
        </p:nvSpPr>
        <p:spPr>
          <a:xfrm>
            <a:off x="9922979" y="3091201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box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4FC51C76-CEA1-9D4F-7EE3-4BFA18AF8C8F}"/>
              </a:ext>
            </a:extLst>
          </p:cNvPr>
          <p:cNvSpPr txBox="1"/>
          <p:nvPr/>
        </p:nvSpPr>
        <p:spPr>
          <a:xfrm>
            <a:off x="10595143" y="3091201"/>
            <a:ext cx="1021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text</a:t>
            </a:r>
          </a:p>
        </p:txBody>
      </p:sp>
      <p:pic>
        <p:nvPicPr>
          <p:cNvPr id="142" name="图片 141" descr="固定">
            <a:extLst>
              <a:ext uri="{FF2B5EF4-FFF2-40B4-BE49-F238E27FC236}">
                <a16:creationId xmlns:a16="http://schemas.microsoft.com/office/drawing/2014/main" id="{CD5A41ED-359A-899A-57A6-B0C008EC0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216" y="1621048"/>
            <a:ext cx="419742" cy="419742"/>
          </a:xfrm>
          <a:prstGeom prst="rect">
            <a:avLst/>
          </a:prstGeom>
        </p:spPr>
      </p:pic>
      <p:pic>
        <p:nvPicPr>
          <p:cNvPr id="143" name="图片 142" descr="固定">
            <a:extLst>
              <a:ext uri="{FF2B5EF4-FFF2-40B4-BE49-F238E27FC236}">
                <a16:creationId xmlns:a16="http://schemas.microsoft.com/office/drawing/2014/main" id="{BC91B0B5-7E26-8F56-1627-1D778684C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1211" y="1938807"/>
            <a:ext cx="419742" cy="419742"/>
          </a:xfrm>
          <a:prstGeom prst="rect">
            <a:avLst/>
          </a:prstGeom>
        </p:spPr>
      </p:pic>
      <p:pic>
        <p:nvPicPr>
          <p:cNvPr id="144" name="图片 143" descr="不固定">
            <a:extLst>
              <a:ext uri="{FF2B5EF4-FFF2-40B4-BE49-F238E27FC236}">
                <a16:creationId xmlns:a16="http://schemas.microsoft.com/office/drawing/2014/main" id="{3BDBE86D-50F8-C32B-87B9-413A56455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914" y="760200"/>
            <a:ext cx="499229" cy="499229"/>
          </a:xfrm>
          <a:prstGeom prst="rect">
            <a:avLst/>
          </a:prstGeom>
        </p:spPr>
      </p:pic>
      <p:sp>
        <p:nvSpPr>
          <p:cNvPr id="145" name="文本框 144">
            <a:extLst>
              <a:ext uri="{FF2B5EF4-FFF2-40B4-BE49-F238E27FC236}">
                <a16:creationId xmlns:a16="http://schemas.microsoft.com/office/drawing/2014/main" id="{D1DB79B7-9D44-372B-1DC5-A0554B9C54D1}"/>
              </a:ext>
            </a:extLst>
          </p:cNvPr>
          <p:cNvSpPr txBox="1"/>
          <p:nvPr/>
        </p:nvSpPr>
        <p:spPr>
          <a:xfrm>
            <a:off x="2713401" y="3828506"/>
            <a:ext cx="1382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Training</a:t>
            </a:r>
          </a:p>
        </p:txBody>
      </p:sp>
      <p:sp>
        <p:nvSpPr>
          <p:cNvPr id="146" name="圆角矩形 36">
            <a:extLst>
              <a:ext uri="{FF2B5EF4-FFF2-40B4-BE49-F238E27FC236}">
                <a16:creationId xmlns:a16="http://schemas.microsoft.com/office/drawing/2014/main" id="{535FD848-F1E6-B2B0-375B-4DD3235DAE79}"/>
              </a:ext>
            </a:extLst>
          </p:cNvPr>
          <p:cNvSpPr/>
          <p:nvPr/>
        </p:nvSpPr>
        <p:spPr>
          <a:xfrm>
            <a:off x="6196285" y="4216645"/>
            <a:ext cx="5259066" cy="2441406"/>
          </a:xfrm>
          <a:prstGeom prst="roundRect">
            <a:avLst/>
          </a:prstGeom>
          <a:solidFill>
            <a:srgbClr val="FFC6A0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圆角矩形 59">
            <a:extLst>
              <a:ext uri="{FF2B5EF4-FFF2-40B4-BE49-F238E27FC236}">
                <a16:creationId xmlns:a16="http://schemas.microsoft.com/office/drawing/2014/main" id="{1476B677-5D92-616A-0EBC-E20277583836}"/>
              </a:ext>
            </a:extLst>
          </p:cNvPr>
          <p:cNvSpPr/>
          <p:nvPr/>
        </p:nvSpPr>
        <p:spPr>
          <a:xfrm flipV="1">
            <a:off x="1031745" y="4216645"/>
            <a:ext cx="4896886" cy="2441406"/>
          </a:xfrm>
          <a:prstGeom prst="roundRect">
            <a:avLst/>
          </a:prstGeom>
          <a:solidFill>
            <a:srgbClr val="CFC0E6"/>
          </a:solidFill>
          <a:ln>
            <a:noFill/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52E951D-D38D-8E4A-5381-B78E30FF7DBD}"/>
              </a:ext>
            </a:extLst>
          </p:cNvPr>
          <p:cNvSpPr txBox="1"/>
          <p:nvPr/>
        </p:nvSpPr>
        <p:spPr>
          <a:xfrm>
            <a:off x="2088208" y="4282794"/>
            <a:ext cx="2633027" cy="39909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load image &amp; mask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0D773049-43C2-CF70-A8A8-D25671EF33E5}"/>
              </a:ext>
            </a:extLst>
          </p:cNvPr>
          <p:cNvSpPr txBox="1"/>
          <p:nvPr/>
        </p:nvSpPr>
        <p:spPr>
          <a:xfrm>
            <a:off x="1965337" y="4774551"/>
            <a:ext cx="263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check sum(WT) &gt; 0 </a:t>
            </a:r>
            <a:r>
              <a:rPr lang="zh-CN" altLang="en-US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？</a:t>
            </a:r>
            <a:endParaRPr lang="en-US" altLang="zh-CN" b="1" dirty="0">
              <a:solidFill>
                <a:srgbClr val="000000"/>
              </a:solidFill>
              <a:latin typeface="Cascadia Code" panose="020B0609020000020004" charset="0"/>
              <a:ea typeface="Inter"/>
              <a:cs typeface="Cascadia Code" panose="020B060902000002000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C19FCF6B-D723-FE67-85D0-CA219D9563C3}"/>
              </a:ext>
            </a:extLst>
          </p:cNvPr>
          <p:cNvSpPr txBox="1"/>
          <p:nvPr/>
        </p:nvSpPr>
        <p:spPr>
          <a:xfrm>
            <a:off x="1168461" y="5290860"/>
            <a:ext cx="431038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calculate bounding box </a:t>
            </a: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&amp; add perturbation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8D515463-FFAC-F795-6281-D7B76CAC6E63}"/>
              </a:ext>
            </a:extLst>
          </p:cNvPr>
          <p:cNvSpPr txBox="1"/>
          <p:nvPr/>
        </p:nvSpPr>
        <p:spPr>
          <a:xfrm>
            <a:off x="1543819" y="6084169"/>
            <a:ext cx="387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predict and calculate Loss</a:t>
            </a:r>
          </a:p>
        </p:txBody>
      </p: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07C11B5A-5D25-0218-384F-9C6F44FBF42A}"/>
              </a:ext>
            </a:extLst>
          </p:cNvPr>
          <p:cNvCxnSpPr>
            <a:cxnSpLocks/>
          </p:cNvCxnSpPr>
          <p:nvPr/>
        </p:nvCxnSpPr>
        <p:spPr>
          <a:xfrm>
            <a:off x="3180250" y="5937191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B0AEBB07-41B7-45AB-F649-2D090FACF0EF}"/>
              </a:ext>
            </a:extLst>
          </p:cNvPr>
          <p:cNvCxnSpPr>
            <a:cxnSpLocks/>
          </p:cNvCxnSpPr>
          <p:nvPr/>
        </p:nvCxnSpPr>
        <p:spPr>
          <a:xfrm>
            <a:off x="3180250" y="4659232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8AA6C6CA-0BD3-92D8-A2B6-3908B702AA8A}"/>
              </a:ext>
            </a:extLst>
          </p:cNvPr>
          <p:cNvCxnSpPr>
            <a:cxnSpLocks/>
          </p:cNvCxnSpPr>
          <p:nvPr/>
        </p:nvCxnSpPr>
        <p:spPr>
          <a:xfrm>
            <a:off x="3180250" y="5143883"/>
            <a:ext cx="0" cy="21696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4" name="图片 163" descr="加载">
            <a:extLst>
              <a:ext uri="{FF2B5EF4-FFF2-40B4-BE49-F238E27FC236}">
                <a16:creationId xmlns:a16="http://schemas.microsoft.com/office/drawing/2014/main" id="{5BE9F8FB-37DA-88F4-6849-464A9306F6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4585" y="4272281"/>
            <a:ext cx="440690" cy="440690"/>
          </a:xfrm>
          <a:prstGeom prst="rect">
            <a:avLst/>
          </a:prstGeom>
        </p:spPr>
      </p:pic>
      <p:pic>
        <p:nvPicPr>
          <p:cNvPr id="166" name="图片 165" descr="噪声">
            <a:extLst>
              <a:ext uri="{FF2B5EF4-FFF2-40B4-BE49-F238E27FC236}">
                <a16:creationId xmlns:a16="http://schemas.microsoft.com/office/drawing/2014/main" id="{220A9231-FF51-0E4C-DA9F-E628E40CCB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6928" y="5461912"/>
            <a:ext cx="475279" cy="475279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83A923D5-32FB-9A48-11C2-ABD9A7202C09}"/>
              </a:ext>
            </a:extLst>
          </p:cNvPr>
          <p:cNvSpPr txBox="1"/>
          <p:nvPr/>
        </p:nvSpPr>
        <p:spPr>
          <a:xfrm>
            <a:off x="7146633" y="3827002"/>
            <a:ext cx="3521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Inference &amp; Evaluation</a:t>
            </a:r>
          </a:p>
        </p:txBody>
      </p:sp>
      <p:pic>
        <p:nvPicPr>
          <p:cNvPr id="168" name="图片 167" descr="肿瘤科">
            <a:extLst>
              <a:ext uri="{FF2B5EF4-FFF2-40B4-BE49-F238E27FC236}">
                <a16:creationId xmlns:a16="http://schemas.microsoft.com/office/drawing/2014/main" id="{5FF43601-9815-F8A1-94F3-E441104EC7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8617" y="4185821"/>
            <a:ext cx="773430" cy="773430"/>
          </a:xfrm>
          <a:prstGeom prst="rect">
            <a:avLst/>
          </a:prstGeom>
        </p:spPr>
      </p:pic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FEF21DD0-7A68-BE95-CC7C-8535F5715AEB}"/>
              </a:ext>
            </a:extLst>
          </p:cNvPr>
          <p:cNvGrpSpPr/>
          <p:nvPr/>
        </p:nvGrpSpPr>
        <p:grpSpPr>
          <a:xfrm>
            <a:off x="6630623" y="4346227"/>
            <a:ext cx="4361815" cy="1310005"/>
            <a:chOff x="5914" y="8168"/>
            <a:chExt cx="6869" cy="2063"/>
          </a:xfrm>
        </p:grpSpPr>
        <p:sp>
          <p:nvSpPr>
            <p:cNvPr id="170" name="圆角矩形 64">
              <a:extLst>
                <a:ext uri="{FF2B5EF4-FFF2-40B4-BE49-F238E27FC236}">
                  <a16:creationId xmlns:a16="http://schemas.microsoft.com/office/drawing/2014/main" id="{87E4C1CC-FCF2-8971-A107-2CEB2032D23F}"/>
                </a:ext>
              </a:extLst>
            </p:cNvPr>
            <p:cNvSpPr/>
            <p:nvPr/>
          </p:nvSpPr>
          <p:spPr>
            <a:xfrm>
              <a:off x="6058" y="9409"/>
              <a:ext cx="2124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圆角矩形 66">
              <a:extLst>
                <a:ext uri="{FF2B5EF4-FFF2-40B4-BE49-F238E27FC236}">
                  <a16:creationId xmlns:a16="http://schemas.microsoft.com/office/drawing/2014/main" id="{ED07A74B-A2A0-5F9A-893F-66C02B8401FD}"/>
                </a:ext>
              </a:extLst>
            </p:cNvPr>
            <p:cNvSpPr/>
            <p:nvPr/>
          </p:nvSpPr>
          <p:spPr>
            <a:xfrm>
              <a:off x="8341" y="9409"/>
              <a:ext cx="2119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圆角矩形 68">
              <a:extLst>
                <a:ext uri="{FF2B5EF4-FFF2-40B4-BE49-F238E27FC236}">
                  <a16:creationId xmlns:a16="http://schemas.microsoft.com/office/drawing/2014/main" id="{BD553E8E-5121-106E-8B65-5F97F88A1AEC}"/>
                </a:ext>
              </a:extLst>
            </p:cNvPr>
            <p:cNvSpPr/>
            <p:nvPr/>
          </p:nvSpPr>
          <p:spPr>
            <a:xfrm>
              <a:off x="10606" y="9409"/>
              <a:ext cx="2061" cy="788"/>
            </a:xfrm>
            <a:prstGeom prst="roundRect">
              <a:avLst/>
            </a:prstGeom>
            <a:solidFill>
              <a:srgbClr val="2C2C2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EF6C49A2-FCBD-0DE2-612F-666613DF8584}"/>
                </a:ext>
              </a:extLst>
            </p:cNvPr>
            <p:cNvGrpSpPr/>
            <p:nvPr/>
          </p:nvGrpSpPr>
          <p:grpSpPr>
            <a:xfrm>
              <a:off x="5914" y="8168"/>
              <a:ext cx="6869" cy="2063"/>
              <a:chOff x="6588" y="8202"/>
              <a:chExt cx="6869" cy="2063"/>
            </a:xfrm>
          </p:grpSpPr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9BC5A280-7A59-83C8-71C4-1A9DEB25DD86}"/>
                  </a:ext>
                </a:extLst>
              </p:cNvPr>
              <p:cNvSpPr txBox="1"/>
              <p:nvPr/>
            </p:nvSpPr>
            <p:spPr>
              <a:xfrm>
                <a:off x="8733" y="8202"/>
                <a:ext cx="2350" cy="58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inference</a:t>
                </a:r>
              </a:p>
            </p:txBody>
          </p: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8CC4B05B-340F-9756-CAEC-DE5051574A46}"/>
                  </a:ext>
                </a:extLst>
              </p:cNvPr>
              <p:cNvCxnSpPr/>
              <p:nvPr/>
            </p:nvCxnSpPr>
            <p:spPr>
              <a:xfrm>
                <a:off x="10370" y="8775"/>
                <a:ext cx="910" cy="526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A6FB1104-C604-945A-B4F8-4FA4187D9AD8}"/>
                  </a:ext>
                </a:extLst>
              </p:cNvPr>
              <p:cNvCxnSpPr/>
              <p:nvPr/>
            </p:nvCxnSpPr>
            <p:spPr>
              <a:xfrm flipH="1">
                <a:off x="8366" y="8764"/>
                <a:ext cx="865" cy="577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02CFBF71-0B5B-AC41-DB32-863E28614ADB}"/>
                  </a:ext>
                </a:extLst>
              </p:cNvPr>
              <p:cNvCxnSpPr/>
              <p:nvPr/>
            </p:nvCxnSpPr>
            <p:spPr>
              <a:xfrm>
                <a:off x="9780" y="8775"/>
                <a:ext cx="11" cy="523"/>
              </a:xfrm>
              <a:prstGeom prst="straightConnector1">
                <a:avLst/>
              </a:prstGeom>
              <a:ln w="31750" cap="rnd">
                <a:solidFill>
                  <a:schemeClr val="tx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938E11EC-0639-66D5-67C6-C6963E0A4D4D}"/>
                  </a:ext>
                </a:extLst>
              </p:cNvPr>
              <p:cNvSpPr txBox="1"/>
              <p:nvPr/>
            </p:nvSpPr>
            <p:spPr>
              <a:xfrm>
                <a:off x="6588" y="9443"/>
                <a:ext cx="2427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</a:rPr>
                  <a:t>WT Segmentation</a:t>
                </a: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CD851828-0487-5078-D334-8AA9D83D0BC4}"/>
                  </a:ext>
                </a:extLst>
              </p:cNvPr>
              <p:cNvSpPr txBox="1"/>
              <p:nvPr/>
            </p:nvSpPr>
            <p:spPr>
              <a:xfrm>
                <a:off x="8856" y="9409"/>
                <a:ext cx="2378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TC Segmentation</a:t>
                </a: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043A536C-E6D8-8B42-DCBA-8A8B26218A9C}"/>
                  </a:ext>
                </a:extLst>
              </p:cNvPr>
              <p:cNvSpPr txBox="1"/>
              <p:nvPr/>
            </p:nvSpPr>
            <p:spPr>
              <a:xfrm>
                <a:off x="11134" y="9409"/>
                <a:ext cx="2323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Cascadia Code" panose="020B0609020000020004" charset="0"/>
                    <a:ea typeface="Inter"/>
                    <a:cs typeface="Cascadia Code" panose="020B0609020000020004" charset="0"/>
                    <a:sym typeface="+mn-ea"/>
                  </a:rPr>
                  <a:t>ET Segmentation</a:t>
                </a:r>
              </a:p>
            </p:txBody>
          </p:sp>
        </p:grpSp>
      </p:grp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9B7AD2C-C2FC-5D86-3705-D7FC21D2B173}"/>
              </a:ext>
            </a:extLst>
          </p:cNvPr>
          <p:cNvSpPr txBox="1"/>
          <p:nvPr/>
        </p:nvSpPr>
        <p:spPr>
          <a:xfrm>
            <a:off x="7932563" y="5788063"/>
            <a:ext cx="164827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ascadia Code" panose="020B0609020000020004" charset="0"/>
                <a:ea typeface="Inter"/>
                <a:cs typeface="Cascadia Code" panose="020B0609020000020004" charset="0"/>
                <a:sym typeface="+mn-ea"/>
              </a:rPr>
              <a:t>Evaluation</a:t>
            </a:r>
          </a:p>
        </p:txBody>
      </p:sp>
      <p:sp>
        <p:nvSpPr>
          <p:cNvPr id="184" name="圆角矩形 42">
            <a:extLst>
              <a:ext uri="{FF2B5EF4-FFF2-40B4-BE49-F238E27FC236}">
                <a16:creationId xmlns:a16="http://schemas.microsoft.com/office/drawing/2014/main" id="{1988BFEB-7797-C544-5D43-F167F74ED72D}"/>
              </a:ext>
            </a:extLst>
          </p:cNvPr>
          <p:cNvSpPr/>
          <p:nvPr/>
        </p:nvSpPr>
        <p:spPr>
          <a:xfrm>
            <a:off x="8088138" y="6249608"/>
            <a:ext cx="1181100" cy="316230"/>
          </a:xfrm>
          <a:prstGeom prst="roundRect">
            <a:avLst/>
          </a:prstGeom>
          <a:solidFill>
            <a:srgbClr val="2C2C2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48633FF-BE5F-7513-1613-60619E03B419}"/>
              </a:ext>
            </a:extLst>
          </p:cNvPr>
          <p:cNvSpPr txBox="1"/>
          <p:nvPr/>
        </p:nvSpPr>
        <p:spPr>
          <a:xfrm>
            <a:off x="8101378" y="6228653"/>
            <a:ext cx="131064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Cascadia Code" panose="020B0609020000020004" charset="0"/>
                <a:ea typeface="Inter"/>
                <a:cs typeface="Cascadia Code" panose="020B0609020000020004" charset="0"/>
              </a:rPr>
              <a:t>Dice Score</a:t>
            </a:r>
            <a:r>
              <a:rPr lang="en-US" altLang="zh-CN" sz="1600" dirty="0"/>
              <a:t> 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57CC2BBD-94A8-2FBA-3317-3E0B4252860B}"/>
              </a:ext>
            </a:extLst>
          </p:cNvPr>
          <p:cNvSpPr/>
          <p:nvPr/>
        </p:nvSpPr>
        <p:spPr>
          <a:xfrm>
            <a:off x="-122548" y="-113122"/>
            <a:ext cx="12537649" cy="7183225"/>
          </a:xfrm>
          <a:custGeom>
            <a:avLst/>
            <a:gdLst>
              <a:gd name="connsiteX0" fmla="*/ 6170173 w 12537649"/>
              <a:gd name="connsiteY0" fmla="*/ 3914849 h 7183225"/>
              <a:gd name="connsiteX1" fmla="*/ 6170173 w 12537649"/>
              <a:gd name="connsiteY1" fmla="*/ 6971122 h 7183225"/>
              <a:gd name="connsiteX2" fmla="*/ 11690502 w 12537649"/>
              <a:gd name="connsiteY2" fmla="*/ 6971122 h 7183225"/>
              <a:gd name="connsiteX3" fmla="*/ 11690502 w 12537649"/>
              <a:gd name="connsiteY3" fmla="*/ 3914849 h 7183225"/>
              <a:gd name="connsiteX4" fmla="*/ 0 w 12537649"/>
              <a:gd name="connsiteY4" fmla="*/ 0 h 7183225"/>
              <a:gd name="connsiteX5" fmla="*/ 12537649 w 12537649"/>
              <a:gd name="connsiteY5" fmla="*/ 0 h 7183225"/>
              <a:gd name="connsiteX6" fmla="*/ 12537649 w 12537649"/>
              <a:gd name="connsiteY6" fmla="*/ 7183225 h 7183225"/>
              <a:gd name="connsiteX7" fmla="*/ 0 w 12537649"/>
              <a:gd name="connsiteY7" fmla="*/ 7183225 h 718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37649" h="7183225">
                <a:moveTo>
                  <a:pt x="6170173" y="3914849"/>
                </a:moveTo>
                <a:lnTo>
                  <a:pt x="6170173" y="6971122"/>
                </a:lnTo>
                <a:lnTo>
                  <a:pt x="11690502" y="6971122"/>
                </a:lnTo>
                <a:lnTo>
                  <a:pt x="11690502" y="3914849"/>
                </a:lnTo>
                <a:close/>
                <a:moveTo>
                  <a:pt x="0" y="0"/>
                </a:moveTo>
                <a:lnTo>
                  <a:pt x="12537649" y="0"/>
                </a:lnTo>
                <a:lnTo>
                  <a:pt x="12537649" y="7183225"/>
                </a:lnTo>
                <a:lnTo>
                  <a:pt x="0" y="7183225"/>
                </a:lnTo>
                <a:close/>
              </a:path>
            </a:pathLst>
          </a:custGeom>
          <a:solidFill>
            <a:srgbClr val="6B6B6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259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BraTS20_Training_296_slice061"/>
          <p:cNvPicPr>
            <a:picLocks noChangeAspect="1"/>
          </p:cNvPicPr>
          <p:nvPr/>
        </p:nvPicPr>
        <p:blipFill>
          <a:blip r:embed="rId2"/>
          <a:srcRect l="1713"/>
          <a:stretch>
            <a:fillRect/>
          </a:stretch>
        </p:blipFill>
        <p:spPr>
          <a:xfrm>
            <a:off x="2723515" y="0"/>
            <a:ext cx="6740525" cy="6858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1030" y="1276350"/>
            <a:ext cx="1965325" cy="594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WT</a:t>
            </a:r>
          </a:p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Dice = 0.968</a:t>
            </a:r>
            <a:endParaRPr lang="en-US" altLang="zh-CN" sz="1600">
              <a:latin typeface="Cascadia Code" panose="020B0609020000020004" charset="0"/>
              <a:ea typeface="+mj-ea"/>
              <a:cs typeface="Cascadia Code" panose="020B0609020000020004" charset="0"/>
            </a:endParaRPr>
          </a:p>
          <a:p>
            <a:pPr algn="ctr"/>
            <a:endParaRPr lang="en-US" altLang="zh-CN" sz="1600" b="1">
              <a:latin typeface="Cascadia Code" panose="020B0609020000020004" charset="0"/>
              <a:ea typeface="+mj-ea"/>
              <a:cs typeface="Cascadia Code" panose="020B06090200000200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4505" y="3429000"/>
            <a:ext cx="2239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TC</a:t>
            </a:r>
          </a:p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Dice = 0.932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93420" y="5454015"/>
            <a:ext cx="1821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ET</a:t>
            </a:r>
          </a:p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Dice = 0.349</a:t>
            </a:r>
          </a:p>
        </p:txBody>
      </p:sp>
      <p:pic>
        <p:nvPicPr>
          <p:cNvPr id="5" name="图片 4" descr="BraTS20_Training_296_slice061"/>
          <p:cNvPicPr>
            <a:picLocks noChangeAspect="1"/>
          </p:cNvPicPr>
          <p:nvPr/>
        </p:nvPicPr>
        <p:blipFill>
          <a:blip r:embed="rId2"/>
          <a:srcRect l="45231" t="84130" r="41259" b="5546"/>
          <a:stretch>
            <a:fillRect/>
          </a:stretch>
        </p:blipFill>
        <p:spPr>
          <a:xfrm>
            <a:off x="9321800" y="2332355"/>
            <a:ext cx="2870200" cy="2193925"/>
          </a:xfrm>
          <a:prstGeom prst="rect">
            <a:avLst/>
          </a:prstGeom>
        </p:spPr>
      </p:pic>
      <p:pic>
        <p:nvPicPr>
          <p:cNvPr id="6" name="图片 5" descr="BraTS20_Training_296_slice061"/>
          <p:cNvPicPr>
            <a:picLocks noChangeAspect="1"/>
          </p:cNvPicPr>
          <p:nvPr/>
        </p:nvPicPr>
        <p:blipFill>
          <a:blip r:embed="rId2"/>
          <a:srcRect l="79259" t="84130" r="10444" b="7315"/>
          <a:stretch>
            <a:fillRect/>
          </a:stretch>
        </p:blipFill>
        <p:spPr>
          <a:xfrm>
            <a:off x="9322435" y="4472305"/>
            <a:ext cx="2869565" cy="23856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788660" y="5769610"/>
            <a:ext cx="752475" cy="58674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28940" y="5769610"/>
            <a:ext cx="752475" cy="58674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6324600" y="3945255"/>
            <a:ext cx="3044190" cy="177355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8869045" y="5697855"/>
            <a:ext cx="621665" cy="24955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34315" y="269875"/>
            <a:ext cx="255651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latin typeface="Cascadia Code" panose="020B0609020000020004" charset="0"/>
                <a:ea typeface="+mj-ea"/>
                <a:cs typeface="Cascadia Code" panose="020B0609020000020004" charset="0"/>
              </a:rPr>
              <a:t>5. Inference</a:t>
            </a:r>
          </a:p>
          <a:p>
            <a:r>
              <a:rPr lang="en-US" altLang="zh-CN" sz="2400">
                <a:latin typeface="Cascadia Code" panose="020B0609020000020004" charset="0"/>
                <a:ea typeface="+mj-ea"/>
                <a:cs typeface="Cascadia Code" panose="020B0609020000020004" charset="0"/>
              </a:rPr>
              <a:t> &amp;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95325" y="1071880"/>
            <a:ext cx="176403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</a:rPr>
              <a:t>WT</a:t>
            </a:r>
          </a:p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Dice = 0.958</a:t>
            </a:r>
            <a:endParaRPr lang="en-US" altLang="zh-CN" sz="1600">
              <a:latin typeface="Cascadia Code" panose="020B0609020000020004" charset="0"/>
              <a:ea typeface="+mj-ea"/>
              <a:cs typeface="Cascadia Code" panose="020B0609020000020004" charset="0"/>
            </a:endParaRPr>
          </a:p>
          <a:p>
            <a:pPr algn="ctr"/>
            <a:endParaRPr lang="en-US" altLang="zh-CN" sz="1600" b="1">
              <a:latin typeface="Cascadia Code" panose="020B0609020000020004" charset="0"/>
              <a:ea typeface="+mj-ea"/>
              <a:cs typeface="Cascadia Code" panose="020B06090200000200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5325" y="3137535"/>
            <a:ext cx="1808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TC</a:t>
            </a:r>
          </a:p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Dice = 0.248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96595" y="5386705"/>
            <a:ext cx="1699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ET</a:t>
            </a:r>
          </a:p>
          <a:p>
            <a:pPr algn="ctr"/>
            <a:r>
              <a:rPr lang="en-US" altLang="zh-CN" sz="1600">
                <a:latin typeface="Cascadia Code" panose="020B0609020000020004" charset="0"/>
                <a:ea typeface="+mj-ea"/>
                <a:cs typeface="Cascadia Code" panose="020B0609020000020004" charset="0"/>
                <a:sym typeface="+mn-ea"/>
              </a:rPr>
              <a:t>Dice = 0.201</a:t>
            </a:r>
          </a:p>
        </p:txBody>
      </p:sp>
      <p:pic>
        <p:nvPicPr>
          <p:cNvPr id="2" name="图片 1" descr="BraTS20_Training_259_slice0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355" y="0"/>
            <a:ext cx="6858000" cy="6858000"/>
          </a:xfrm>
          <a:prstGeom prst="rect">
            <a:avLst/>
          </a:prstGeom>
        </p:spPr>
      </p:pic>
      <p:pic>
        <p:nvPicPr>
          <p:cNvPr id="4" name="图片 3" descr="BraTS20_Training_259_slice088"/>
          <p:cNvPicPr>
            <a:picLocks noChangeAspect="1"/>
          </p:cNvPicPr>
          <p:nvPr/>
        </p:nvPicPr>
        <p:blipFill>
          <a:blip r:embed="rId4"/>
          <a:srcRect l="41715" t="77148" r="47583" b="14006"/>
          <a:stretch>
            <a:fillRect/>
          </a:stretch>
        </p:blipFill>
        <p:spPr>
          <a:xfrm>
            <a:off x="9126220" y="1667510"/>
            <a:ext cx="3065145" cy="2536190"/>
          </a:xfrm>
          <a:prstGeom prst="rect">
            <a:avLst/>
          </a:prstGeom>
        </p:spPr>
      </p:pic>
      <p:pic>
        <p:nvPicPr>
          <p:cNvPr id="5" name="图片 4" descr="BraTS20_Training_259_slice088"/>
          <p:cNvPicPr>
            <a:picLocks noChangeAspect="1"/>
          </p:cNvPicPr>
          <p:nvPr/>
        </p:nvPicPr>
        <p:blipFill>
          <a:blip r:embed="rId4"/>
          <a:srcRect l="74685" t="77148" r="16009" b="14796"/>
          <a:stretch>
            <a:fillRect/>
          </a:stretch>
        </p:blipFill>
        <p:spPr>
          <a:xfrm>
            <a:off x="9126220" y="4203700"/>
            <a:ext cx="3065145" cy="26543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235575" y="5332730"/>
            <a:ext cx="752475" cy="58674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484110" y="5299710"/>
            <a:ext cx="752475" cy="58674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5615305" y="3750945"/>
            <a:ext cx="3690620" cy="151257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5" idx="1"/>
          </p:cNvCxnSpPr>
          <p:nvPr/>
        </p:nvCxnSpPr>
        <p:spPr>
          <a:xfrm flipH="1" flipV="1">
            <a:off x="8299450" y="5487670"/>
            <a:ext cx="826770" cy="4318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4148204"/>
              </p:ext>
            </p:extLst>
          </p:nvPr>
        </p:nvGraphicFramePr>
        <p:xfrm>
          <a:off x="1800860" y="975360"/>
          <a:ext cx="8924290" cy="4542028"/>
        </p:xfrm>
        <a:graphic>
          <a:graphicData uri="http://schemas.openxmlformats.org/drawingml/2006/table">
            <a:tbl>
              <a:tblPr/>
              <a:tblGrid>
                <a:gridCol w="232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3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65">
                <a:tc gridSpan="4"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Final Evaluation Result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Region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Dice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Average(All Regions)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Whole Tumor(WT)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0.8294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SAM VIT-b:20 epoch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7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Tumor Core(TC)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7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b="1">
                          <a:latin typeface="Cascadia Code" panose="020B0609020000020004"/>
                          <a:ea typeface="宋体" panose="02010600030101010101" pitchFamily="2" charset="-122"/>
                        </a:rPr>
                        <a:t>0.8322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b="0" dirty="0">
                          <a:latin typeface="Cascadia Code" panose="020B0609020000020004"/>
                          <a:ea typeface="宋体" panose="02010600030101010101" pitchFamily="2" charset="-122"/>
                        </a:rPr>
                        <a:t>0.7833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Enhancing Tumor(ET)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0.6884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Whole Tumor(WT)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0.8157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SAM vit-h:8 epoch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Tumor Core(TC)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7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b="1">
                          <a:latin typeface="Cascadia Code" panose="020B0609020000020004"/>
                          <a:ea typeface="宋体" panose="02010600030101010101" pitchFamily="2" charset="-122"/>
                        </a:rPr>
                        <a:t>0.8278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dirty="0">
                          <a:latin typeface="Cascadia Code" panose="020B0609020000020004"/>
                          <a:ea typeface="宋体" panose="02010600030101010101" pitchFamily="2" charset="-122"/>
                        </a:rPr>
                        <a:t>0.7708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5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Enhancing Tumor(ET)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0.6688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Whole Tumor(WT)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b="1">
                          <a:latin typeface="Cascadia Code" panose="020B0609020000020004"/>
                          <a:ea typeface="宋体" panose="02010600030101010101" pitchFamily="2" charset="-122"/>
                        </a:rPr>
                        <a:t>0.8489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MedSAM:20 epoch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Tumor Core(TC)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0.8325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Cascadia Code" panose="020B0609020000020004"/>
                          <a:ea typeface="宋体" panose="02010600030101010101" pitchFamily="2" charset="-122"/>
                        </a:rPr>
                        <a:t>0.7984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Enhancing Tumor(ET)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Cascadia Code" panose="020B0609020000020004"/>
                          <a:ea typeface="宋体" panose="02010600030101010101" pitchFamily="2" charset="-122"/>
                        </a:rPr>
                        <a:t>0.7138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600" dirty="0">
                        <a:latin typeface="Cascadia Code" panose="020B06090200000200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em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025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2*351"/>
  <p:tag name="TABLE_ENDDRAG_RECT" val="141*76*702*35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673</Words>
  <Application>Microsoft Office PowerPoint</Application>
  <PresentationFormat>宽屏</PresentationFormat>
  <Paragraphs>296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Wingdings</vt:lpstr>
      <vt:lpstr>Cambria Math</vt:lpstr>
      <vt:lpstr>Cascadia Code</vt:lpstr>
      <vt:lpstr>等线 Light</vt:lpstr>
      <vt:lpstr>宋体</vt:lpstr>
      <vt:lpstr>Arial</vt:lpstr>
      <vt:lpstr>等线</vt:lpstr>
      <vt:lpstr>Office 主题​​</vt:lpstr>
      <vt:lpstr>Fine-Tuning SAM For  Brain Tumor Segmentation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翰飞 丁</dc:creator>
  <cp:lastModifiedBy>翰飞 丁</cp:lastModifiedBy>
  <cp:revision>11</cp:revision>
  <dcterms:created xsi:type="dcterms:W3CDTF">2025-12-24T11:29:49Z</dcterms:created>
  <dcterms:modified xsi:type="dcterms:W3CDTF">2025-12-26T04:45:44Z</dcterms:modified>
</cp:coreProperties>
</file>